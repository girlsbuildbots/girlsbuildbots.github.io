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Designing Robots 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Robots that change lives 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Assistive robotics</a:t>
            </a:r>
            <a:r>
              <a:rPr/>
              <a:t> — robots designed for human needs:</a:t>
            </a:r>
          </a:p>
          <a:p>
            <a:pPr lvl="0"/>
            <a:r>
              <a:rPr/>
              <a:t>🦿 Prosthetic limbs &amp; exoskeletons that restore movement</a:t>
            </a:r>
          </a:p>
          <a:p>
            <a:pPr lvl="0"/>
            <a:r>
              <a:rPr/>
              <a:t>👵 Companion robots that reduce isolation for older adults</a:t>
            </a:r>
          </a:p>
          <a:p>
            <a:pPr lvl="0"/>
            <a:r>
              <a:rPr/>
              <a:t>🏥 Hospital robots that deliver medication</a:t>
            </a:r>
          </a:p>
          <a:p>
            <a:pPr lvl="0"/>
            <a:r>
              <a:rPr/>
              <a:t>🚨 Search-and-rescue robots that go where humans can’t</a:t>
            </a:r>
          </a:p>
          <a:p>
            <a:pPr lvl="0"/>
            <a:r>
              <a:rPr/>
              <a:t>🌾 Agricultural robots that feed the world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engineer’s three questions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every assistive robot, ask:</a:t>
            </a:r>
          </a:p>
          <a:p>
            <a:pPr lvl="0" indent="-342900" marL="342900">
              <a:buAutoNum type="arabicPeriod"/>
            </a:pPr>
            <a:r>
              <a:rPr b="1"/>
              <a:t>Whose</a:t>
            </a:r>
            <a:r>
              <a:rPr/>
              <a:t> problem does it solve? </a:t>
            </a:r>
            <a:r>
              <a:rPr i="1"/>
              <a:t>(the user comes first)</a:t>
            </a:r>
          </a:p>
          <a:p>
            <a:pPr lvl="0" indent="-342900" marL="342900">
              <a:buAutoNum type="arabicPeriod"/>
            </a:pPr>
            <a:r>
              <a:rPr/>
              <a:t>What </a:t>
            </a:r>
            <a:r>
              <a:rPr b="1"/>
              <a:t>sensors and actions</a:t>
            </a:r>
            <a:r>
              <a:rPr/>
              <a:t> does it need?</a:t>
            </a:r>
          </a:p>
          <a:p>
            <a:pPr lvl="0" indent="-342900" marL="342900">
              <a:buAutoNum type="arabicPeriod"/>
            </a:pPr>
            <a:r>
              <a:rPr b="1"/>
              <a:t>What could go wrong?</a:t>
            </a:r>
            <a:r>
              <a:rPr/>
              <a:t> </a:t>
            </a:r>
            <a:r>
              <a:rPr i="1"/>
              <a:t>(safety and failure modes)</a:t>
            </a:r>
          </a:p>
          <a:p>
            <a:pPr lvl="0" indent="0" marL="0">
              <a:buNone/>
            </a:pPr>
            <a:r>
              <a:rPr/>
              <a:t>That third question separates beginners from real engineers.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Design Challenge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Teams of 2–3. Choose your mission:</a:t>
            </a:r>
          </a:p>
          <a:p>
            <a:pPr lvl="0"/>
            <a:r>
              <a:rPr/>
              <a:t>🦵 </a:t>
            </a:r>
            <a:r>
              <a:rPr b="1"/>
              <a:t>Mobility assist</a:t>
            </a:r>
            <a:r>
              <a:rPr/>
              <a:t> — retrieve dropped objects for someone who can’t bend down</a:t>
            </a:r>
          </a:p>
          <a:p>
            <a:pPr lvl="0"/>
            <a:r>
              <a:rPr/>
              <a:t>💬 </a:t>
            </a:r>
            <a:r>
              <a:rPr b="1"/>
              <a:t>Companion</a:t>
            </a:r>
            <a:r>
              <a:rPr/>
              <a:t> — reduce isolation for a homebound older adult</a:t>
            </a:r>
          </a:p>
          <a:p>
            <a:pPr lvl="0"/>
            <a:r>
              <a:rPr/>
              <a:t>💊 </a:t>
            </a:r>
            <a:r>
              <a:rPr b="1"/>
              <a:t>Home care</a:t>
            </a:r>
            <a:r>
              <a:rPr/>
              <a:t> — medication reminders and assistance</a:t>
            </a:r>
          </a:p>
          <a:p>
            <a:pPr lvl="0"/>
            <a:r>
              <a:rPr/>
              <a:t>🚨 </a:t>
            </a:r>
            <a:r>
              <a:rPr b="1"/>
              <a:t>Rescue</a:t>
            </a:r>
            <a:r>
              <a:rPr/>
              <a:t> — locate a person where humans can’t safely go</a:t>
            </a:r>
          </a:p>
          <a:p>
            <a:pPr lvl="0"/>
            <a:r>
              <a:rPr/>
              <a:t>🖐️ </a:t>
            </a:r>
            <a:r>
              <a:rPr b="1"/>
              <a:t>Accessibility</a:t>
            </a:r>
            <a:r>
              <a:rPr/>
              <a:t> — open doors/containers for limited hand mobility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1: Know your user (15 min) 🗣️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mentor will role-play your </a:t>
            </a:r>
            <a:r>
              <a:rPr b="1"/>
              <a:t>user</a:t>
            </a:r>
            <a:r>
              <a:rPr/>
              <a:t>. Interview them:</a:t>
            </a:r>
          </a:p>
          <a:p>
            <a:pPr lvl="0"/>
            <a:r>
              <a:rPr/>
              <a:t>“Walk me through your day. When does this problem show up?”</a:t>
            </a:r>
          </a:p>
          <a:p>
            <a:pPr lvl="0"/>
            <a:r>
              <a:rPr/>
              <a:t>“What have you already tried?”</a:t>
            </a:r>
          </a:p>
          <a:p>
            <a:pPr lvl="0"/>
            <a:r>
              <a:rPr/>
              <a:t>“What would make a solution annoying instead of helpful?”</a:t>
            </a:r>
          </a:p>
          <a:p>
            <a:pPr lvl="0" indent="0" marL="0">
              <a:buNone/>
            </a:pPr>
            <a:r>
              <a:rPr/>
              <a:t>Write a </a:t>
            </a:r>
            <a:r>
              <a:rPr b="1"/>
              <a:t>problem statement</a:t>
            </a:r>
            <a:r>
              <a:rPr/>
              <a:t>: </a:t>
            </a:r>
            <a:r>
              <a:rPr i="1"/>
              <a:t>[User] needs a way to [goal] because [barrier].</a:t>
            </a:r>
          </a:p>
          <a:p>
            <a:pPr lvl="0" indent="0" marL="0">
              <a:buNone/>
            </a:pPr>
            <a:r>
              <a:rPr b="1"/>
              <a:t>Great engineers design WITH people, not just FOR them.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2: Two concepts + decision matrix (25 min) ✏️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Sketch </a:t>
            </a:r>
            <a:r>
              <a:rPr b="1"/>
              <a:t>TWO different concepts</a:t>
            </a:r>
            <a:r>
              <a:rPr/>
              <a:t> — committing to your first idea is a rookie mistake.</a:t>
            </a:r>
          </a:p>
          <a:p>
            <a:pPr lvl="0" indent="0" marL="0">
              <a:buNone/>
            </a:pPr>
            <a:r>
              <a:rPr/>
              <a:t>Then score both in a decision matrix: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552700"/>
          <a:ext cx="8229600" cy="12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Criteria (pick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Ease of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11600"/>
            <a:ext cx="8229600" cy="5461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Highest score wins. Document WHY.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3: Prototype (40 min) 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 physical model representing: - </a:t>
            </a:r>
            <a:r>
              <a:rPr b="1"/>
              <a:t>Sensors</a:t>
            </a:r>
            <a:r>
              <a:rPr/>
              <a:t> — how it perceives the user &amp; environment - </a:t>
            </a:r>
            <a:r>
              <a:rPr b="1"/>
              <a:t>Controller</a:t>
            </a:r>
            <a:r>
              <a:rPr/>
              <a:t> — where decisions happen - </a:t>
            </a:r>
            <a:r>
              <a:rPr b="1"/>
              <a:t>Actuation</a:t>
            </a:r>
            <a:r>
              <a:rPr/>
              <a:t> — how it moves - </a:t>
            </a:r>
            <a:r>
              <a:rPr b="1"/>
              <a:t>The tool</a:t>
            </a:r>
            <a:r>
              <a:rPr/>
              <a:t> — what actually touches the user’s world</a:t>
            </a:r>
          </a:p>
          <a:p>
            <a:pPr lvl="0" indent="0" marL="0">
              <a:buNone/>
            </a:pPr>
            <a:r>
              <a:rPr/>
              <a:t>Bottle cap = camera. Straw = hydraulic arm. Represent, don’t perfect.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Phase 4: Failure-mode analysis (10 min)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 professionals ask: </a:t>
            </a:r>
            <a:r>
              <a:rPr b="1"/>
              <a:t>“What breaks first?”</a:t>
            </a:r>
          </a:p>
          <a:p>
            <a:pPr lvl="0"/>
            <a:r>
              <a:rPr/>
              <a:t>Battery dies mid-task?</a:t>
            </a:r>
          </a:p>
          <a:p>
            <a:pPr lvl="0"/>
            <a:r>
              <a:rPr/>
              <a:t>Sensor gets blocked or dirty?</a:t>
            </a:r>
          </a:p>
          <a:p>
            <a:pPr lvl="0"/>
            <a:r>
              <a:rPr/>
              <a:t>User falls or drops it?</a:t>
            </a:r>
          </a:p>
          <a:p>
            <a:pPr lvl="0"/>
            <a:r>
              <a:rPr/>
              <a:t>It misreads the situation?</a:t>
            </a:r>
          </a:p>
          <a:p>
            <a:pPr lvl="0" indent="0" marL="0">
              <a:buNone/>
            </a:pPr>
            <a:r>
              <a:rPr/>
              <a:t>Pick the scariest failure → make </a:t>
            </a:r>
            <a:r>
              <a:rPr b="1"/>
              <a:t>one documented design change</a:t>
            </a:r>
            <a:r>
              <a:rPr/>
              <a:t> to address it.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Review 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 to the mentor panel. Expect real questions:</a:t>
            </a:r>
          </a:p>
          <a:p>
            <a:pPr lvl="0" indent="0" marL="1270000">
              <a:buNone/>
            </a:pPr>
            <a:r>
              <a:rPr sz="2000" i="1"/>
              <a:t>“Why this sensor and not a cheaper one?”</a:t>
            </a:r>
            <a:r>
              <a:rPr sz="2000"/>
              <a:t> </a:t>
            </a:r>
            <a:r>
              <a:rPr sz="2000" i="1"/>
              <a:t>“What happens if the battery dies mid-task?”</a:t>
            </a:r>
            <a:r>
              <a:rPr sz="2000"/>
              <a:t> </a:t>
            </a:r>
            <a:r>
              <a:rPr sz="2000" i="1"/>
              <a:t>“How would you make this affordable?”</a:t>
            </a:r>
          </a:p>
          <a:p>
            <a:pPr lvl="0" indent="0" marL="0">
              <a:buNone/>
            </a:pPr>
            <a:r>
              <a:rPr b="1"/>
              <a:t>“We don’t know yet — here’s how we’d find out”</a:t>
            </a:r>
            <a:r>
              <a:rPr/>
              <a:t> is a legitimate engineering answer. Use 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Interviewed a user and wrote a problem statement</a:t>
            </a:r>
          </a:p>
          <a:p>
            <a:pPr lvl="0"/>
            <a:r>
              <a:rPr/>
              <a:t>Compared concepts with a decision matrix</a:t>
            </a:r>
          </a:p>
          <a:p>
            <a:pPr lvl="0"/>
            <a:r>
              <a:rPr/>
              <a:t>Built a prototype with all major subsystems</a:t>
            </a:r>
          </a:p>
          <a:p>
            <a:pPr lvl="0"/>
            <a:r>
              <a:rPr/>
              <a:t>Ran failure-mode analysis and iterated</a:t>
            </a:r>
          </a:p>
          <a:p>
            <a:pPr lvl="0"/>
            <a:r>
              <a:rPr/>
              <a:t>Defended your design under questioning</a:t>
            </a:r>
          </a:p>
          <a:p>
            <a:pPr lvl="0" indent="0" marL="0">
              <a:buNone/>
            </a:pPr>
            <a:r>
              <a:rPr b="1"/>
              <a:t>This is the actual workflow of professional design engineering.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Tinkercad</a:t>
            </a:r>
            <a:r>
              <a:rPr/>
              <a:t> (tinkercad.com) — free CAD; design your robot in 3D</a:t>
            </a:r>
          </a:p>
          <a:p>
            <a:pPr lvl="0"/>
            <a:r>
              <a:rPr b="1"/>
              <a:t>Instructables</a:t>
            </a:r>
            <a:r>
              <a:rPr/>
              <a:t> — real build guides with electronics</a:t>
            </a:r>
          </a:p>
          <a:p>
            <a:pPr lvl="0"/>
            <a:r>
              <a:rPr b="1"/>
              <a:t>e-NABLE</a:t>
            </a:r>
            <a:r>
              <a:rPr/>
              <a:t> (enablingthefuture.org) — volunteers 3D-print prosthetic hands</a:t>
            </a:r>
          </a:p>
          <a:p>
            <a:pPr lvl="0"/>
            <a:r>
              <a:rPr b="1"/>
              <a:t>EngineerGirl</a:t>
            </a:r>
            <a:r>
              <a:rPr/>
              <a:t> (engineergirl.org) — profiles of women engineers + contests</a:t>
            </a:r>
          </a:p>
          <a:p>
            <a:pPr lvl="0"/>
            <a:r>
              <a:rPr/>
              <a:t>Ask us about CAD on our FRC team!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2026-08-11T04:44:03Z</dcterms:created>
  <dcterms:modified xsi:type="dcterms:W3CDTF">2026-08-11T04:44:03Z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