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Cybersecurity Safeguards 🛡️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Cybersecurity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Attackers don’t hack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They hack people.</a:t>
            </a:r>
          </a:p>
          <a:p>
            <a:pPr lvl="0" indent="0" marL="0">
              <a:buNone/>
            </a:pPr>
            <a:r>
              <a:rPr/>
              <a:t>Social engineering. Urgency. Impersonation.</a:t>
            </a:r>
          </a:p>
          <a:p>
            <a:pPr lvl="0" indent="0" marL="0">
              <a:buNone/>
            </a:pPr>
            <a:r>
              <a:rPr/>
              <a:t>The defense: a calm, skeptical mind — plus a few strong technical habits.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Rule, stated out loud 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Every credential today is invented.</a:t>
            </a:r>
          </a:p>
          <a:p>
            <a:pPr lvl="0" indent="0" marL="0">
              <a:buNone/>
            </a:pPr>
            <a:r>
              <a:rPr/>
              <a:t>We will not log into anything during this session.</a:t>
            </a:r>
          </a:p>
          <a:p>
            <a:pPr lvl="0" indent="0" marL="0">
              <a:buNone/>
            </a:pPr>
            <a:r>
              <a:rPr b="1"/>
              <a:t>The rule is the lesson.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Authentication: how does a system know you’re you? 🔑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Something you </a:t>
                      </a:r>
                      <a:r>
                        <a:rPr b="1"/>
                        <a:t>know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passphrase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Something you </a:t>
                      </a:r>
                      <a:r>
                        <a:rPr b="1"/>
                        <a:t>have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code on your phone — </a:t>
                      </a:r>
                      <a:r>
                        <a:rPr b="1"/>
                        <a:t>2FA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Something you </a:t>
                      </a:r>
                      <a:r>
                        <a:rPr b="1"/>
                        <a:t>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fingerprint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54400"/>
            <a:ext cx="8229600" cy="1003300"/>
          </a:xfrm>
        </p:spPr>
        <p:txBody>
          <a:bodyPr/>
          <a:lstStyle/>
          <a:p>
            <a:pPr lvl="0" indent="0" marL="0">
              <a:buNone/>
            </a:pPr>
            <a:r>
              <a:rPr i="1"/>
              <a:t>Passphrase refresher: length beats cleverness. Three random words.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locks beat one 🔒🔒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stolen passphrase, alone, fails against 2FA.</a:t>
            </a:r>
          </a:p>
          <a:p>
            <a:pPr lvl="0" indent="0" marL="0">
              <a:buNone/>
            </a:pPr>
            <a:r>
              <a:rPr/>
              <a:t>And the grown-up tool: a </a:t>
            </a:r>
            <a:r>
              <a:rPr b="1"/>
              <a:t>password manager</a:t>
            </a:r>
            <a:r>
              <a:rPr/>
              <a:t> — one strong master passphrase, unique passwords everywhere else.</a:t>
            </a:r>
          </a:p>
          <a:p>
            <a:pPr lvl="0" indent="0" marL="0">
              <a:buNone/>
            </a:pPr>
            <a:r>
              <a:rPr b="1"/>
              <a:t>Deliverable:</a:t>
            </a:r>
            <a:r>
              <a:rPr/>
              <a:t> your written personal authentication plan.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Social Engineering Defense 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838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 the scenario deck. For each message, name the </a:t>
            </a:r>
            <a:r>
              <a:rPr b="1"/>
              <a:t>manipulation lever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159000"/>
          <a:ext cx="8229600" cy="22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Sounds like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Urgency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“in the next 10 minutes!”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“this is the school office”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Emotion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“your friend is stranded”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“you’ve been selected”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counter-move 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Slow down.</a:t>
            </a:r>
          </a:p>
          <a:p>
            <a:pPr lvl="0" indent="-342900" marL="342900">
              <a:buAutoNum type="arabicPeriod"/>
            </a:pPr>
            <a:r>
              <a:rPr b="1"/>
              <a:t>Verify through a separate channel</a:t>
            </a:r>
            <a:r>
              <a:rPr/>
              <a:t> — call the real number, ask the real friend in person</a:t>
            </a:r>
          </a:p>
          <a:p>
            <a:pPr lvl="0" indent="-342900" marL="342900">
              <a:buAutoNum type="arabicPeriod"/>
            </a:pPr>
            <a:r>
              <a:rPr b="1"/>
              <a:t>Never act on pressure.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message in the deck is REAL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Because the skill is </a:t>
            </a:r>
            <a:r>
              <a:rPr b="1"/>
              <a:t>discrimination</a:t>
            </a:r>
            <a:r>
              <a:rPr/>
              <a:t>, not blanket paranoia.</a:t>
            </a:r>
          </a:p>
          <a:p>
            <a:pPr lvl="0" indent="0" marL="0">
              <a:buNone/>
            </a:pPr>
            <a:r>
              <a:rPr/>
              <a:t>Which team sorts the full deck correctly </a:t>
            </a:r>
            <a:r>
              <a:rPr i="1"/>
              <a:t>and</a:t>
            </a:r>
            <a:r>
              <a:rPr/>
              <a:t> names every lever?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Privacy Audit Workshop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memory — </a:t>
            </a:r>
            <a:r>
              <a:rPr b="1"/>
              <a:t>no logging in</a:t>
            </a:r>
            <a:r>
              <a:rPr/>
              <a:t>:</a:t>
            </a:r>
          </a:p>
          <a:p>
            <a:pPr lvl="0"/>
            <a:r>
              <a:rPr/>
              <a:t>What accounts exist?</a:t>
            </a:r>
          </a:p>
          <a:p>
            <a:pPr lvl="0"/>
            <a:r>
              <a:rPr/>
              <a:t>What does each one </a:t>
            </a:r>
            <a:r>
              <a:rPr b="1"/>
              <a:t>know</a:t>
            </a:r>
            <a:r>
              <a:rPr/>
              <a:t> about you?</a:t>
            </a:r>
          </a:p>
          <a:p>
            <a:pPr lvl="0"/>
            <a:r>
              <a:rPr b="1"/>
              <a:t>Who can see what?</a:t>
            </a:r>
          </a:p>
          <a:p>
            <a:pPr lvl="0"/>
            <a:r>
              <a:rPr/>
              <a:t>What would you change?</a:t>
            </a:r>
          </a:p>
          <a:p>
            <a:pPr lvl="0" indent="0" marL="0">
              <a:buNone/>
            </a:pPr>
            <a:r>
              <a:rPr i="1"/>
              <a:t>Think of it as taking inventory of your own house keys.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top three 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concrete actions to complete at home </a:t>
            </a:r>
            <a:r>
              <a:rPr b="1"/>
              <a:t>with a parent</a:t>
            </a:r>
            <a:r>
              <a:rPr/>
              <a:t>:</a:t>
            </a:r>
          </a:p>
          <a:p>
            <a:pPr lvl="0"/>
            <a:r>
              <a:rPr/>
              <a:t>Tighten one setting</a:t>
            </a:r>
          </a:p>
          <a:p>
            <a:pPr lvl="0"/>
            <a:r>
              <a:rPr/>
              <a:t>Enable </a:t>
            </a:r>
            <a:r>
              <a:rPr b="1"/>
              <a:t>2FA</a:t>
            </a:r>
            <a:r>
              <a:rPr/>
              <a:t> somewhere</a:t>
            </a:r>
          </a:p>
          <a:p>
            <a:pPr lvl="0"/>
            <a:r>
              <a:rPr/>
              <a:t>Retire an unused account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protect team accounts and code with unique passphrases and 2FA.</a:t>
            </a:r>
          </a:p>
          <a:p>
            <a:pPr lvl="0" indent="0" marL="0">
              <a:buNone/>
            </a:pPr>
            <a:r>
              <a:rPr/>
              <a:t>And “someone urgently needs the team login” is a message you </a:t>
            </a:r>
            <a:r>
              <a:rPr b="1"/>
              <a:t>verify</a:t>
            </a:r>
            <a:r>
              <a:rPr/>
              <a:t> — never obey.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Defense Drill 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Rapid fire. We read a scenario; you call the </a:t>
            </a:r>
            <a:r>
              <a:rPr b="1"/>
              <a:t>lever</a:t>
            </a:r>
            <a:r>
              <a:rPr/>
              <a:t> and the </a:t>
            </a:r>
            <a:r>
              <a:rPr b="1"/>
              <a:t>counter-move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Closing, honestly:</a:t>
            </a:r>
            <a:r>
              <a:rPr/>
              <a:t> which lever would most likely have worked on you </a:t>
            </a:r>
            <a:r>
              <a:rPr i="1"/>
              <a:t>before</a:t>
            </a:r>
            <a:r>
              <a:rPr/>
              <a:t> today?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Self-awareness is the strongest safeguard in the room.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authentication factors and why 2FA defeats a stolen password</a:t>
            </a:r>
          </a:p>
          <a:p>
            <a:pPr lvl="0"/>
            <a:r>
              <a:rPr/>
              <a:t>Identified the manipulation lever in a social-engineering attempt</a:t>
            </a:r>
          </a:p>
          <a:p>
            <a:pPr lvl="0"/>
            <a:r>
              <a:rPr/>
              <a:t>Applied the verify-through-another-channel counter-move</a:t>
            </a:r>
          </a:p>
          <a:p>
            <a:pPr lvl="0"/>
            <a:r>
              <a:rPr/>
              <a:t>Completed a privacy audit and committed to three improvements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up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 your top-three audit actions </a:t>
            </a:r>
            <a:r>
              <a:rPr b="1"/>
              <a:t>this week</a:t>
            </a:r>
            <a:r>
              <a:rPr/>
              <a:t>, with a parent</a:t>
            </a:r>
          </a:p>
          <a:p>
            <a:pPr lvl="0"/>
            <a:r>
              <a:rPr/>
              <a:t>Teach the four levers to someone who’d fall for one</a:t>
            </a:r>
          </a:p>
          <a:p>
            <a:pPr lvl="0"/>
            <a:r>
              <a:rPr/>
              <a:t>You now see the levers — they don’t work as well on someone who sees them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2026-08-11T04:43:56Z</dcterms:created>
  <dcterms:modified xsi:type="dcterms:W3CDTF">2026-08-11T04:43:56Z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