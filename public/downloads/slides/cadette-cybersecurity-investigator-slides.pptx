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20" Type="http://schemas.openxmlformats.org/officeDocument/2006/relationships/viewProps" Target="viewProps.xml" /><Relationship Id="rId1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2" Type="http://schemas.openxmlformats.org/officeDocument/2006/relationships/tableStyles" Target="tableStyles.xml" /><Relationship Id="rId2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Cybersecurity Investigator 🕵️‍♀️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Cadette Cybersecurity Badge — Girls Build Bots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Presented by your robotics mentors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capstone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 you run a </a:t>
            </a:r>
            <a:r>
              <a:rPr b="1"/>
              <a:t>full incident investigation</a:t>
            </a:r>
            <a:r>
              <a:rPr/>
              <a:t> — thinking like both:</a:t>
            </a:r>
          </a:p>
          <a:p>
            <a:pPr lvl="0"/>
            <a:r>
              <a:rPr/>
              <a:t>The </a:t>
            </a:r>
            <a:r>
              <a:rPr b="1"/>
              <a:t>attacker</a:t>
            </a:r>
            <a:r>
              <a:rPr/>
              <a:t> — how was this done?</a:t>
            </a:r>
          </a:p>
          <a:p>
            <a:pPr lvl="0"/>
            <a:r>
              <a:rPr/>
              <a:t>The </a:t>
            </a:r>
            <a:r>
              <a:rPr b="1"/>
              <a:t>defender</a:t>
            </a:r>
            <a:r>
              <a:rPr/>
              <a:t> — how do we prove it, and prevent it?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 discipline: no conclusion outruns its support.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real investigations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Secure</a:t>
            </a:r>
            <a:r>
              <a:rPr/>
              <a:t> the evidence</a:t>
            </a:r>
          </a:p>
          <a:p>
            <a:pPr lvl="0" indent="-342900" marL="342900">
              <a:buAutoNum type="arabicPeriod"/>
            </a:pPr>
            <a:r>
              <a:rPr/>
              <a:t>Build a </a:t>
            </a:r>
            <a:r>
              <a:rPr b="1"/>
              <a:t>timeline</a:t>
            </a:r>
          </a:p>
          <a:p>
            <a:pPr lvl="0" indent="-342900" marL="342900">
              <a:buAutoNum type="arabicPeriod"/>
            </a:pPr>
            <a:r>
              <a:rPr/>
              <a:t>Form </a:t>
            </a:r>
            <a:r>
              <a:rPr b="1"/>
              <a:t>hypotheses</a:t>
            </a:r>
          </a:p>
          <a:p>
            <a:pPr lvl="0" indent="-342900" marL="342900">
              <a:buAutoNum type="arabicPeriod"/>
            </a:pPr>
            <a:r>
              <a:rPr b="1"/>
              <a:t>Test</a:t>
            </a:r>
            <a:r>
              <a:rPr/>
              <a:t> each against the evidence</a:t>
            </a:r>
          </a:p>
          <a:p>
            <a:pPr lvl="0" indent="-342900" marL="342900">
              <a:buAutoNum type="arabicPeriod"/>
            </a:pPr>
            <a:r>
              <a:rPr i="1"/>
              <a:t>Only then</a:t>
            </a:r>
            <a:r>
              <a:rPr/>
              <a:t> conclude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rules for today 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Every claim needs an exhibit.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The goal is the attack vector — how it happened — not just a culprit.</a:t>
            </a:r>
          </a:p>
          <a:p>
            <a:pPr lvl="0" indent="0" marL="0">
              <a:buNone/>
            </a:pPr>
            <a:r>
              <a:rPr i="1"/>
              <a:t>And fair warning: this file contains a red herring. Real cases always do.</a:t>
            </a:r>
            <a:r>
              <a:rPr/>
              <a:t> 🙂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Case 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“The Bake Sale Account Takeover”</a:t>
            </a:r>
          </a:p>
          <a:p>
            <a:pPr lvl="0" indent="0" marL="0">
              <a:buNone/>
            </a:pPr>
            <a:r>
              <a:rPr/>
              <a:t>A club’s social account posted spam overnight.</a:t>
            </a:r>
          </a:p>
          <a:p>
            <a:pPr lvl="0" indent="0" marL="0">
              <a:buNone/>
            </a:pPr>
            <a:r>
              <a:rPr b="1"/>
              <a:t>Your team gets the full file. Work it.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1 — Log every exhibit 📝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57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Exhibit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shows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Corroborated 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Confidence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/ med / low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95600"/>
            <a:ext cx="8229600" cy="157480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Confidence matters as much as the finding.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2 — Build the timeline 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Lay the strips out physically: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DM → click → fake login → 2:14 AM access → spam posts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3 — Form hypotheses 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At least two</a:t>
            </a:r>
            <a:r>
              <a:rPr/>
              <a:t> — including the suspicious rival club member.</a:t>
            </a:r>
          </a:p>
          <a:p>
            <a:pPr lvl="0" indent="0" marL="0">
              <a:buNone/>
            </a:pPr>
            <a:r>
              <a:rPr/>
              <a:t>For each one: - Which exhibits </a:t>
            </a:r>
            <a:r>
              <a:rPr b="1"/>
              <a:t>support</a:t>
            </a:r>
            <a:r>
              <a:rPr/>
              <a:t> it? - Which exhibits </a:t>
            </a:r>
            <a:r>
              <a:rPr b="1"/>
              <a:t>contradict</a:t>
            </a:r>
            <a:r>
              <a:rPr/>
              <a:t> it?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4 — Name the attack vector 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phishing link → credential theft → account takeover</a:t>
            </a:r>
          </a:p>
          <a:p>
            <a:pPr lvl="0" indent="0" marL="0">
              <a:buNone/>
            </a:pPr>
            <a:r>
              <a:rPr/>
              <a:t>…with the </a:t>
            </a:r>
            <a:r>
              <a:rPr b="1"/>
              <a:t>evidence chain</a:t>
            </a:r>
            <a:r>
              <a:rPr/>
              <a:t> that proves it.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the red herring collapses 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Someone “seemed suspicious” — but the evidence doesn’t hold.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Suspicion isn’t proof.</a:t>
            </a:r>
          </a:p>
          <a:p>
            <a:pPr lvl="0" indent="0" marL="0">
              <a:buNone/>
            </a:pPr>
            <a:r>
              <a:rPr/>
              <a:t>That collapse is the most important moment of the session.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Incident Report 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Like professionals:</a:t>
            </a:r>
          </a:p>
          <a:p>
            <a:pPr lvl="0" indent="-342900" marL="342900">
              <a:buAutoNum type="arabicPeriod"/>
            </a:pPr>
            <a:r>
              <a:rPr b="1"/>
              <a:t>What happened</a:t>
            </a:r>
            <a:r>
              <a:rPr/>
              <a:t> — the timeline</a:t>
            </a:r>
          </a:p>
          <a:p>
            <a:pPr lvl="0" indent="-342900" marL="342900">
              <a:buAutoNum type="arabicPeriod"/>
            </a:pPr>
            <a:r>
              <a:rPr b="1"/>
              <a:t>How</a:t>
            </a:r>
            <a:r>
              <a:rPr/>
              <a:t> — attack vector + evidence chain</a:t>
            </a:r>
          </a:p>
          <a:p>
            <a:pPr lvl="0" indent="-342900" marL="342900">
              <a:buAutoNum type="arabicPeriod"/>
            </a:pPr>
            <a:r>
              <a:rPr b="1"/>
              <a:t>What we can’t prove</a:t>
            </a:r>
            <a:r>
              <a:rPr/>
              <a:t> — state unknowns honestly. Real reports always have them.</a:t>
            </a:r>
          </a:p>
          <a:p>
            <a:pPr lvl="0" indent="-342900" marL="342900">
              <a:buAutoNum type="arabicPeriod"/>
            </a:pPr>
            <a:r>
              <a:rPr b="1"/>
              <a:t>Remediation</a:t>
            </a:r>
            <a:r>
              <a:rPr/>
              <a:t> — three defenses that would have stopped this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Remediation ties the series together 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Basics</a:t>
            </a:r>
            <a:r>
              <a:rPr/>
              <a:t> explained the system</a:t>
            </a:r>
          </a:p>
          <a:p>
            <a:pPr lvl="0"/>
            <a:r>
              <a:rPr b="1"/>
              <a:t>Safeguards</a:t>
            </a:r>
            <a:r>
              <a:rPr/>
              <a:t> taught the defenses</a:t>
            </a:r>
          </a:p>
          <a:p>
            <a:pPr lvl="0"/>
            <a:r>
              <a:rPr b="1"/>
              <a:t>Investigator</a:t>
            </a:r>
            <a:r>
              <a:rPr/>
              <a:t> shows exactly where they’d have worked</a:t>
            </a:r>
          </a:p>
          <a:p>
            <a:pPr lvl="0" indent="0" marL="0">
              <a:buNone/>
            </a:pPr>
            <a:r>
              <a:rPr i="1"/>
              <a:t>2FA · a URL-checking habit · verify before clicking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Case Presentations ⚖️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Five minutes per team. Then </a:t>
            </a:r>
            <a:r>
              <a:rPr b="1"/>
              <a:t>one cross-examination question</a:t>
            </a:r>
            <a:r>
              <a:rPr/>
              <a:t>:</a:t>
            </a:r>
          </a:p>
          <a:p>
            <a:pPr lvl="0" indent="0" marL="1270000">
              <a:buNone/>
            </a:pPr>
            <a:r>
              <a:rPr sz="2000"/>
              <a:t>“How do you know the login wasn’t the treasurer traveling?”</a:t>
            </a:r>
          </a:p>
          <a:p>
            <a:pPr lvl="0" indent="0" marL="0">
              <a:buNone/>
            </a:pPr>
            <a:r>
              <a:rPr b="1"/>
              <a:t>Answer from exhibits.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Robot moment 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We’ve debugged a mystery robot failure exactly this way — logs, timeline, hypotheses tested one at a time.</a:t>
            </a:r>
          </a:p>
          <a:p>
            <a:pPr lvl="0" indent="0" marL="0">
              <a:buNone/>
            </a:pPr>
            <a:r>
              <a:rPr b="1"/>
              <a:t>And the first suspect is often innocent.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Pick your habit 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Which investigative habit are you keeping?</a:t>
            </a:r>
          </a:p>
          <a:p>
            <a:pPr lvl="0"/>
            <a:r>
              <a:rPr/>
              <a:t>Evidence before conclusions</a:t>
            </a:r>
          </a:p>
          <a:p>
            <a:pPr lvl="0"/>
            <a:r>
              <a:rPr/>
              <a:t>Corroborate everything</a:t>
            </a:r>
          </a:p>
          <a:p>
            <a:pPr lvl="0"/>
            <a:r>
              <a:rPr/>
              <a:t>Beware the obvious suspect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you accomplished 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Built an evidence log and timeline from an incident file</a:t>
            </a:r>
          </a:p>
          <a:p>
            <a:pPr lvl="0"/>
            <a:r>
              <a:rPr/>
              <a:t>Tested multiple hypotheses and rejected one that failed</a:t>
            </a:r>
          </a:p>
          <a:p>
            <a:pPr lvl="0"/>
            <a:r>
              <a:rPr/>
              <a:t>Identified an attack vector and supported it with an evidence chain</a:t>
            </a:r>
          </a:p>
          <a:p>
            <a:pPr lvl="0"/>
            <a:r>
              <a:rPr/>
              <a:t>Wrote remediation recommendations and defended them under questioning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📣 Share Your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Troop leaders &amp; robotics teams</a:t>
            </a:r>
            <a:r>
              <a:rPr/>
              <a:t> — if you used this curriculum, please:</a:t>
            </a:r>
          </a:p>
          <a:p>
            <a:pPr lvl="0" indent="-342900" marL="342900">
              <a:buAutoNum type="arabicPeriod"/>
            </a:pPr>
            <a:r>
              <a:rPr b="1"/>
              <a:t>Credit us</a:t>
            </a:r>
            <a:r>
              <a:rPr/>
              <a:t> — the curriculum comes from </a:t>
            </a:r>
            <a:r>
              <a:rPr b="1"/>
              <a:t>Girls Build Bots</a:t>
            </a:r>
          </a:p>
          <a:p>
            <a:pPr lvl="0" indent="-342900" marL="342900">
              <a:buAutoNum type="arabicPeriod"/>
            </a:pPr>
            <a:r>
              <a:rPr b="1"/>
              <a:t>Tag us</a:t>
            </a:r>
            <a:r>
              <a:rPr/>
              <a:t> — </a:t>
            </a:r>
            <a:r>
              <a:rPr b="1"/>
              <a:t>@girlsbuildbots</a:t>
            </a:r>
            <a:r>
              <a:rPr/>
              <a:t> on Instagram</a:t>
            </a:r>
          </a:p>
          <a:p>
            <a:pPr lvl="0" indent="-342900" marL="342900">
              <a:buAutoNum type="arabicPeriod"/>
            </a:pPr>
            <a:r>
              <a:rPr b="1"/>
              <a:t>Report your results</a:t>
            </a:r>
            <a:r>
              <a:rPr/>
              <a:t> — email </a:t>
            </a:r>
            <a:r>
              <a:rPr b="1"/>
              <a:t>girlsbuildbots@gmail.com</a:t>
            </a:r>
            <a:r>
              <a:rPr/>
              <a:t> with how many girls took part, how many badges were earned, and how it went</a:t>
            </a:r>
          </a:p>
          <a:p>
            <a:pPr lvl="0" indent="0" marL="0">
              <a:buNone/>
            </a:pPr>
            <a:r>
              <a:rPr/>
              <a:t>This is how the program grows — and how the next troop and team get better materials.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EECE1"/>
      </a:lt2>
      <a:accent1>
        <a:srgbClr val="1F3864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2026-08-11T04:43:55Z</dcterms:created>
  <dcterms:modified xsi:type="dcterms:W3CDTF">2026-08-11T04:43:55Z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