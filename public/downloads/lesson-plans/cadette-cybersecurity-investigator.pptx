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Cadette Cybersecurity Investigator</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Cadettes (Grades 6–8) · </a:t>
            </a:r>
            <a:r>
              <a:rPr b="1"/>
              <a:t>Badge:</a:t>
            </a:r>
            <a:r>
              <a:rPr/>
              <a:t> Cybersecurity — Cybersecurity Investigator </a:t>
            </a:r>
            <a:r>
              <a:rPr b="1"/>
              <a:t>Series:</a:t>
            </a:r>
            <a:r>
              <a:rPr/>
              <a:t> Cybersecurity (Basics · Safeguards · Investigator) </a:t>
            </a:r>
            <a:r>
              <a:rPr b="1"/>
              <a:t>Format:</a:t>
            </a:r>
            <a:r>
              <a:rPr/>
              <a:t> One 2-hour session · </a:t>
            </a:r>
            <a:r>
              <a:rPr b="1"/>
              <a:t>Ratio:</a:t>
            </a:r>
            <a:r>
              <a:rPr/>
              <a:t> 1 mentor per 5–6 Scouts </a:t>
            </a:r>
            <a:r>
              <a:rPr b="1"/>
              <a:t>Who runs it:</a:t>
            </a:r>
            <a:r>
              <a:rPr/>
              <a:t> A FIRST robotics team (FLL / FTC / FRC) leading the session. A physical robot is a nice bonus but </a:t>
            </a:r>
            <a:r>
              <a:rPr b="1"/>
              <a:t>not required</a:t>
            </a:r>
            <a:r>
              <a:rPr/>
              <a:t> — everything runs on a mentor-prepared (entirely fictional) case file.</a:t>
            </a:r>
          </a:p>
          <a:p>
            <a:pPr lvl="0" indent="0" marL="1270000">
              <a:buNone/>
            </a:pPr>
            <a:r>
              <a:rPr sz="2000" b="1"/>
              <a:t>Troop Leaders:</a:t>
            </a:r>
            <a:r>
              <a:rPr sz="2000"/>
              <a:t> This curriculum is designed to </a:t>
            </a:r>
            <a:r>
              <a:rPr sz="2000" i="1"/>
              <a:t>align with</a:t>
            </a:r>
            <a:r>
              <a:rPr sz="2000"/>
              <a:t> the Cadette Cybersecurity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understanding, protecting, investigating</a:t>
            </a:r>
          </a:p>
        </p:txBody>
      </p:sp>
      <p:sp>
        <p:nvSpPr>
          <p:cNvPr id="3" name="Content Placeholder 2"/>
          <p:cNvSpPr>
            <a:spLocks noGrp="1"/>
          </p:cNvSpPr>
          <p:nvPr>
            <p:ph idx="1"/>
          </p:nvPr>
        </p:nvSpPr>
        <p:spPr/>
        <p:txBody>
          <a:bodyPr/>
          <a:lstStyle/>
          <a:p>
            <a:pPr lvl="0" indent="0" marL="0">
              <a:buNone/>
            </a:pPr>
            <a:r>
              <a:rPr/>
              <a:t>The capstone: Cadettes run a full incident investigation — thinking like both the attacker (how was this done?) and the defender (how do we prove it and prevent it?). The discipline is evidence-first reasoning: no conclusion outruns its support.</a:t>
            </a:r>
          </a:p>
          <a:p>
            <a:pPr lvl="0" indent="0" marL="0">
              <a:buNone/>
            </a:pPr>
            <a:r>
              <a:rPr b="1"/>
              <a:t>Vocabulary:</a:t>
            </a:r>
            <a:r>
              <a:rPr/>
              <a:t> incident, evidence chain, timeline, attack vector, hypothesis, corroborate, attribution, remediation.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Cybersecurity Investigator (2 hours)</a:t>
            </a:r>
          </a:p>
        </p:txBody>
      </p:sp>
      <p:sp>
        <p:nvSpPr>
          <p:cNvPr id="3" name="Content Placeholder 2"/>
          <p:cNvSpPr>
            <a:spLocks noGrp="1"/>
          </p:cNvSpPr>
          <p:nvPr>
            <p:ph idx="1"/>
          </p:nvPr>
        </p:nvSpPr>
        <p:spPr/>
        <p:txBody>
          <a:bodyPr/>
          <a:lstStyle/>
          <a:p>
            <a:pPr lvl="0" indent="0" marL="0">
              <a:buNone/>
            </a:pPr>
            <a:r>
              <a:rPr b="1"/>
              <a:t>Badge theme:</a:t>
            </a:r>
            <a:r>
              <a:rPr/>
              <a:t> Investigating a (fictional) cyber incident end to end — tracing the attack, building an evidence chain, and recommending defenses.</a:t>
            </a:r>
          </a:p>
          <a:p>
            <a:pPr lvl="0" indent="0" marL="0">
              <a:spcBef>
                <a:spcPts val="3000"/>
              </a:spcBef>
              <a:buNone/>
            </a:pPr>
            <a:r>
              <a:rPr b="1"/>
              <a:t>Materials</a:t>
            </a:r>
          </a:p>
          <a:p>
            <a:pPr lvl="0"/>
            <a:r>
              <a:rPr b="1"/>
              <a:t>The case file</a:t>
            </a:r>
            <a:r>
              <a:rPr/>
              <a:t> (mentor-prepared, wholly fictional — invented names, no real brands): “The Bake Sale Account Takeover.” A club’s social account posted spam overnight. Evidence packets: (1) a phishing DM sent to the club treasurer three days prior, (2) a login-history sheet showing an unfamiliar location at 2:14 AM, (3) the treasurer’s statement (“I clicked a link to ‘verify’ our account”), (4) a screenshot of the fake login page (subtly wrong URL), (5) a red-herring packet — a rival club member who “seemed suspicious” but whose evidence doesn’t hold up</a:t>
            </a:r>
          </a:p>
          <a:p>
            <a:pPr lvl="0"/>
            <a:r>
              <a:rPr/>
              <a:t>Evidence log sheets (Exhibit / What it shows / Corroborated by / Confidence: high-med-low)</a:t>
            </a:r>
          </a:p>
          <a:p>
            <a:pPr lvl="0"/>
            <a:r>
              <a:rPr/>
              <a:t>Timeline strips + a wall or table to build on; incident-report template for the final brief</a:t>
            </a:r>
          </a:p>
          <a:p>
            <a:pPr lvl="0" indent="0" marL="0">
              <a:spcBef>
                <a:spcPts val="3000"/>
              </a:spcBef>
              <a:buNone/>
            </a:pPr>
            <a:r>
              <a:rPr b="1"/>
              <a:t>Activity 1 — How Real Investigations Work (15 min)</a:t>
            </a:r>
          </a:p>
          <a:p>
            <a:pPr lvl="0" indent="0" marL="0">
              <a:buNone/>
            </a:pPr>
            <a:r>
              <a:rPr/>
              <a:t>The method professionals use: secure the evidence, build a </a:t>
            </a:r>
            <a:r>
              <a:rPr b="1"/>
              <a:t>timeline</a:t>
            </a:r>
            <a:r>
              <a:rPr/>
              <a:t>, form </a:t>
            </a:r>
            <a:r>
              <a:rPr b="1"/>
              <a:t>hypotheses</a:t>
            </a:r>
            <a:r>
              <a:rPr/>
              <a:t>, test each against the evidence, and only then conclude. Two rules Cadettes adopt for the day: every claim needs an exhibit, and the goal is the </a:t>
            </a:r>
            <a:r>
              <a:rPr i="1"/>
              <a:t>attack vector</a:t>
            </a:r>
            <a:r>
              <a:rPr/>
              <a:t> (how it happened), not just a culprit. Warning delivered with a smile: the file contains a red herring, because real cases always do.</a:t>
            </a:r>
          </a:p>
          <a:p>
            <a:pPr lvl="0" indent="0" marL="0">
              <a:spcBef>
                <a:spcPts val="3000"/>
              </a:spcBef>
              <a:buNone/>
            </a:pPr>
            <a:r>
              <a:rPr b="1"/>
              <a:t>Activity 2 — Work the Case (50 min)</a:t>
            </a:r>
          </a:p>
          <a:p>
            <a:pPr lvl="0" indent="0" marL="0">
              <a:buNone/>
            </a:pPr>
            <a:r>
              <a:rPr/>
              <a:t>Teams of 3–4 receive the full file and work it: 1. </a:t>
            </a:r>
            <a:r>
              <a:rPr b="1"/>
              <a:t>Log every exhibit</a:t>
            </a:r>
            <a:r>
              <a:rPr/>
              <a:t> with what it shows and its confidence level 2. </a:t>
            </a:r>
            <a:r>
              <a:rPr b="1"/>
              <a:t>Build the timeline</a:t>
            </a:r>
            <a:r>
              <a:rPr/>
              <a:t> physically with the strips (DM → click → fake login → 2:14 AM access → spam posts) 3. </a:t>
            </a:r>
            <a:r>
              <a:rPr b="1"/>
              <a:t>Form hypotheses</a:t>
            </a:r>
            <a:r>
              <a:rPr/>
              <a:t> — at least two, including the red-herring suspect — and test each: which exhibits support it? which contradict it? 4. </a:t>
            </a:r>
            <a:r>
              <a:rPr b="1"/>
              <a:t>Identify the attack vector</a:t>
            </a:r>
            <a:r>
              <a:rPr/>
              <a:t> (phishing link → credential theft → account takeover) with the evidence chain that proves it</a:t>
            </a:r>
          </a:p>
          <a:p>
            <a:pPr lvl="0" indent="0" marL="0">
              <a:buNone/>
            </a:pPr>
            <a:r>
              <a:rPr/>
              <a:t>Mentors float as “senior investigators”: answer factual questions from a prepared key, never confirm conclusions. The red herring’s collapse under evidence is the session’s teachable moment — suspicion isn’t proof.</a:t>
            </a:r>
          </a:p>
          <a:p>
            <a:pPr lvl="0" indent="0" marL="0">
              <a:spcBef>
                <a:spcPts val="3000"/>
              </a:spcBef>
              <a:buNone/>
            </a:pPr>
            <a:r>
              <a:rPr b="1"/>
              <a:t>Activity 3 — The Incident Report (30 min)</a:t>
            </a:r>
          </a:p>
          <a:p>
            <a:pPr lvl="0" indent="0" marL="0">
              <a:buNone/>
            </a:pPr>
            <a:r>
              <a:rPr/>
              <a:t>Each team completes the report template like professionals: what happened (timeline), how (attack vector + evidence chain), what we can’t prove (unknowns stated honestly — real reports always have them), and </a:t>
            </a:r>
            <a:r>
              <a:rPr b="1"/>
              <a:t>remediation</a:t>
            </a:r>
            <a:r>
              <a:rPr/>
              <a:t> — three defenses that would have stopped this (2FA, URL-checking habit, verify-before-clicking). The remediation section ties the whole badge series together: Basics explained the system, Safeguards taught the defenses, Investigator shows exactly where they’d have worked.</a:t>
            </a:r>
          </a:p>
          <a:p>
            <a:pPr lvl="0" indent="0" marL="0">
              <a:spcBef>
                <a:spcPts val="3000"/>
              </a:spcBef>
              <a:buNone/>
            </a:pPr>
            <a:r>
              <a:rPr b="1"/>
              <a:t>Activity 4 — Case Presentations (20 min) + Wrap (5 min)</a:t>
            </a:r>
          </a:p>
          <a:p>
            <a:pPr lvl="0" indent="0" marL="0">
              <a:buNone/>
            </a:pPr>
            <a:r>
              <a:rPr/>
              <a:t>Teams brief their findings in five minutes each; the audience gets one cross-examination question per team (“how do you know the login wasn’t the treasurer traveling?” — teams must answer from exhibits). Closing: each Scout names one investigative habit she’s keeping — evidence before conclusions, corroborate everything, or beware the obvious suspect.</a:t>
            </a:r>
          </a:p>
          <a:p>
            <a:pPr lvl="0" indent="0" marL="1270000">
              <a:buNone/>
            </a:pPr>
            <a:r>
              <a:rPr sz="2000" b="1"/>
              <a:t>Robot moment (optional):</a:t>
            </a:r>
            <a:r>
              <a:rPr sz="2000"/>
              <a:t> Share for 60 seconds about a time the team debugged a mystery robot failure the same way — logs, timeline, hypotheses tested one at a time — and how the first suspect is often innocent.</a:t>
            </a:r>
          </a:p>
          <a:p>
            <a:pPr lvl="0" indent="0" marL="0">
              <a:spcBef>
                <a:spcPts val="3000"/>
              </a:spcBef>
              <a:buNone/>
            </a:pPr>
            <a:r>
              <a:rPr b="1"/>
              <a:t>Completion Checklist — Cybersecurity Investigator</a:t>
            </a:r>
          </a:p>
          <a:p>
            <a:pPr lvl="0" indent="0" marL="0">
              <a:buNone/>
            </a:pPr>
            <a:r>
              <a:rPr/>
              <a:t>By the end of the session, to earn the badge, each Scout can: - [ ] Build an evidence log and timeline from an incident file - [ ] Test multiple hypotheses against evidence and reject one that fails - [ ] Identify an attack vector and support it with an evidence chain - [ ] Write remediation recommendations and defend conclusions under questioning</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The case file is everything.</a:t>
            </a:r>
            <a:r>
              <a:rPr/>
              <a:t> Invest 45 minutes of prep; keep it wholly fictional (invented club, fake usernames, no real brands or people). A well-made red herring is the best teaching tool in the session.</a:t>
            </a:r>
          </a:p>
          <a:p>
            <a:pPr lvl="0"/>
            <a:r>
              <a:rPr b="1"/>
              <a:t>You don’t need a robot for this.</a:t>
            </a:r>
            <a:r>
              <a:rPr/>
              <a:t> The “robot moment” is a 60-second add-on.</a:t>
            </a:r>
          </a:p>
          <a:p>
            <a:pPr lvl="0"/>
            <a:r>
              <a:rPr b="1"/>
              <a:t>Answer facts, never verdicts.</a:t>
            </a:r>
            <a:r>
              <a:rPr/>
              <a:t> “What does exhibit 2 show?” gets an answer; “so it was phishing, right?” gets “what’s your evidence?”</a:t>
            </a:r>
          </a:p>
          <a:p>
            <a:pPr lvl="0"/>
            <a:r>
              <a:rPr b="1"/>
              <a:t>Honor the unknowns.</a:t>
            </a:r>
            <a:r>
              <a:rPr/>
              <a:t> Praise teams that say “we can’t prove X” — epistemic honesty is the mark of a real investigator.</a:t>
            </a:r>
          </a:p>
          <a:p>
            <a:pPr lvl="0"/>
            <a:r>
              <a:rPr b="1"/>
              <a:t>Keep cross-examination respectful and evidence-bound.</a:t>
            </a:r>
            <a:r>
              <a:rPr/>
              <a:t> One question per team, answered from exhibits — rigor without pile-ons.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Cadette Cybersecurity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2026-08-11T04:43:56Z</dcterms:created>
  <dcterms:modified xsi:type="dcterms:W3CDTF">2026-08-11T04:43:56Z</dcterms:modified>
</cp:coreProperties>
</file>

<file path=docProps/custom.xml><?xml version="1.0" encoding="utf-8"?>
<Properties xmlns="http://schemas.openxmlformats.org/officeDocument/2006/custom-properties" xmlns:vt="http://schemas.openxmlformats.org/officeDocument/2006/docPropsVTypes"/>
</file>