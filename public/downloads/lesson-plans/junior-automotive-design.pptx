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6.xml" ContentType="application/vnd.openxmlformats-officedocument.presentationml.slideLayout+xml"/>
  <Override PartName="/ppt/slideLayouts/slideLayout9.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10" Type="http://schemas.openxmlformats.org/officeDocument/2006/relationships/viewProps" Target="viewProps.xml" /><Relationship Id="rId9" Type="http://schemas.openxmlformats.org/officeDocument/2006/relationships/presProps" Target="presProps.xml" /><Relationship Id="rId1" Type="http://schemas.openxmlformats.org/officeDocument/2006/relationships/slideMaster" Target="slideMasters/slideMaster1.xml" /><Relationship Id="rId12" Type="http://schemas.openxmlformats.org/officeDocument/2006/relationships/tableStyles" Target="tableStyles.xml" /><Relationship Id="rId1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Girls Build Bots — Junior Automotive Design</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Badge-aligned workshop guide for robotics-team-led outreach</a:t>
            </a:r>
          </a:p>
          <a:p>
            <a:pPr lvl="0" indent="0" marL="0">
              <a:buNone/>
            </a:pPr>
            <a:r>
              <a:rPr b="1"/>
              <a:t>Level:</a:t>
            </a:r>
            <a:r>
              <a:rPr/>
              <a:t> Juniors (Grades 4–5) · </a:t>
            </a:r>
            <a:r>
              <a:rPr b="1"/>
              <a:t>Badge:</a:t>
            </a:r>
            <a:r>
              <a:rPr/>
              <a:t> Automotive Engineering — Automotive Design </a:t>
            </a:r>
            <a:r>
              <a:rPr b="1"/>
              <a:t>Series:</a:t>
            </a:r>
            <a:r>
              <a:rPr/>
              <a:t> Automotive Engineering (Design · Engineering · Manufacturing) </a:t>
            </a:r>
            <a:r>
              <a:rPr b="1"/>
              <a:t>Format:</a:t>
            </a:r>
            <a:r>
              <a:rPr/>
              <a:t> One 90–120 minute session · </a:t>
            </a:r>
            <a:r>
              <a:rPr b="1"/>
              <a:t>Ratio:</a:t>
            </a:r>
            <a:r>
              <a:rPr/>
              <a:t> 1 mentor per 4–5 Scouts </a:t>
            </a:r>
            <a:r>
              <a:rPr b="1"/>
              <a:t>Who runs it:</a:t>
            </a:r>
            <a:r>
              <a:rPr/>
              <a:t> A FIRST robotics team (FLL / FTC / FRC) leading the session. A physical robot is a nice bonus but </a:t>
            </a:r>
            <a:r>
              <a:rPr b="1"/>
              <a:t>not required</a:t>
            </a:r>
            <a:r>
              <a:rPr/>
              <a:t> — every activity runs on craft/cardboard supplies the team or troop can provide.</a:t>
            </a:r>
          </a:p>
          <a:p>
            <a:pPr lvl="0" indent="0" marL="1270000">
              <a:buNone/>
            </a:pPr>
            <a:r>
              <a:rPr sz="2000" b="1"/>
              <a:t>Troop Leaders:</a:t>
            </a:r>
            <a:r>
              <a:rPr sz="2000"/>
              <a:t> This curriculum is designed to </a:t>
            </a:r>
            <a:r>
              <a:rPr sz="2000" i="1"/>
              <a:t>align with</a:t>
            </a:r>
            <a:r>
              <a:rPr sz="2000"/>
              <a:t> the Junior Automotive Engineering badge series. Official badge requirements are in your Girl Scout Volunteer Toolkit (VTK). Verify completed activities against the official steps before awarding badges. Badges are purchased through your council shop.</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through-line: from idea to road</a:t>
            </a:r>
          </a:p>
        </p:txBody>
      </p:sp>
      <p:sp>
        <p:nvSpPr>
          <p:cNvPr id="3" name="Content Placeholder 2"/>
          <p:cNvSpPr>
            <a:spLocks noGrp="1"/>
          </p:cNvSpPr>
          <p:nvPr>
            <p:ph idx="1"/>
          </p:nvPr>
        </p:nvSpPr>
        <p:spPr/>
        <p:txBody>
          <a:bodyPr/>
          <a:lstStyle/>
          <a:p>
            <a:pPr lvl="0" indent="0" marL="0">
              <a:buNone/>
            </a:pPr>
            <a:r>
              <a:rPr/>
              <a:t>The Automotive series follows a vehicle through the real industry pipeline: </a:t>
            </a:r>
            <a:r>
              <a:rPr b="1"/>
              <a:t>design</a:t>
            </a:r>
            <a:r>
              <a:rPr/>
              <a:t> it for a user and purpose, engineer it to perform, then manufacture it at scale. Juniors are ready for the real tension designers manage: style vs. function vs. safety.</a:t>
            </a:r>
          </a:p>
          <a:p>
            <a:pPr lvl="0" indent="0" marL="0">
              <a:buNone/>
            </a:pPr>
            <a:r>
              <a:rPr b="1"/>
              <a:t>Vocabulary:</a:t>
            </a:r>
            <a:r>
              <a:rPr/>
              <a:t> designer, user, function, style, safety, constraint, concept sketch, trade-off.</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Automotive Design (90–120 minutes)</a:t>
            </a:r>
          </a:p>
        </p:txBody>
      </p:sp>
      <p:sp>
        <p:nvSpPr>
          <p:cNvPr id="3" name="Content Placeholder 2"/>
          <p:cNvSpPr>
            <a:spLocks noGrp="1"/>
          </p:cNvSpPr>
          <p:nvPr>
            <p:ph idx="1"/>
          </p:nvPr>
        </p:nvSpPr>
        <p:spPr/>
        <p:txBody>
          <a:bodyPr/>
          <a:lstStyle/>
          <a:p>
            <a:pPr lvl="0" indent="0" marL="0">
              <a:buNone/>
            </a:pPr>
            <a:r>
              <a:rPr b="1"/>
              <a:t>Badge theme:</a:t>
            </a:r>
            <a:r>
              <a:rPr/>
              <a:t> Designing a vehicle for a specific user and purpose — balancing style, function, and safety the way real automotive designers do.</a:t>
            </a:r>
          </a:p>
          <a:p>
            <a:pPr lvl="0" indent="0" marL="0">
              <a:spcBef>
                <a:spcPts val="3000"/>
              </a:spcBef>
              <a:buNone/>
            </a:pPr>
            <a:r>
              <a:rPr b="1"/>
              <a:t>Materials</a:t>
            </a:r>
          </a:p>
          <a:p>
            <a:pPr lvl="0"/>
            <a:r>
              <a:rPr/>
              <a:t>Design brief cards (a rural mail carrier; a family with a wheelchair user; a mobile dog groomer; a farmers-market vendor)</a:t>
            </a:r>
          </a:p>
          <a:p>
            <a:pPr lvl="0"/>
            <a:r>
              <a:rPr/>
              <a:t>Sketch sheets (side view + top view outlines), markers</a:t>
            </a:r>
          </a:p>
          <a:p>
            <a:pPr lvl="0"/>
            <a:r>
              <a:rPr/>
              <a:t>Cardboard, foam board, bottle caps, skewers, tape for concept models</a:t>
            </a:r>
          </a:p>
          <a:p>
            <a:pPr lvl="0"/>
            <a:r>
              <a:rPr/>
              <a:t>A “trade-off triangle” poster: STYLE / FUNCTION / SAFETY at the corners</a:t>
            </a:r>
          </a:p>
          <a:p>
            <a:pPr lvl="0" indent="0" marL="0">
              <a:spcBef>
                <a:spcPts val="3000"/>
              </a:spcBef>
              <a:buNone/>
            </a:pPr>
            <a:r>
              <a:rPr b="1"/>
              <a:t>Activity 1 — Every Design Is a Trade-Off (15 min)</a:t>
            </a:r>
          </a:p>
          <a:p>
            <a:pPr lvl="0" indent="0" marL="0">
              <a:buNone/>
            </a:pPr>
            <a:r>
              <a:rPr/>
              <a:t>Compare three real vehicle types (sports car, minivan, delivery truck) against the trade-off triangle: which corner did each design favor, and what did it give up? A sports car trades cargo space for style and speed; a delivery truck trades style for function. </a:t>
            </a:r>
            <a:r>
              <a:rPr b="1"/>
              <a:t>Designers don’t pick everything — they choose deliberately for their user.</a:t>
            </a:r>
          </a:p>
          <a:p>
            <a:pPr lvl="0" indent="0" marL="0">
              <a:spcBef>
                <a:spcPts val="3000"/>
              </a:spcBef>
              <a:buNone/>
            </a:pPr>
            <a:r>
              <a:rPr b="1"/>
              <a:t>Activity 2 — The Design Brief (15 min)</a:t>
            </a:r>
          </a:p>
          <a:p>
            <a:pPr lvl="0" indent="0" marL="0">
              <a:buNone/>
            </a:pPr>
            <a:r>
              <a:rPr/>
              <a:t>Teams of 2–3 draw a brief card and unpack it like professionals: who’s the user, what must the vehicle do (</a:t>
            </a:r>
            <a:r>
              <a:rPr b="1"/>
              <a:t>function</a:t>
            </a:r>
            <a:r>
              <a:rPr/>
              <a:t>), what would hurt them if it failed (</a:t>
            </a:r>
            <a:r>
              <a:rPr b="1"/>
              <a:t>safety</a:t>
            </a:r>
            <a:r>
              <a:rPr/>
              <a:t>), and what would make them love it (</a:t>
            </a:r>
            <a:r>
              <a:rPr b="1"/>
              <a:t>style</a:t>
            </a:r>
            <a:r>
              <a:rPr/>
              <a:t>)? Teams write three </a:t>
            </a:r>
            <a:r>
              <a:rPr b="1"/>
              <a:t>must-haves</a:t>
            </a:r>
            <a:r>
              <a:rPr/>
              <a:t> and one </a:t>
            </a:r>
            <a:r>
              <a:rPr b="1"/>
              <a:t>nice-to-have</a:t>
            </a:r>
            <a:r>
              <a:rPr/>
              <a:t> — that’s a real requirements list, with constraints.</a:t>
            </a:r>
          </a:p>
          <a:p>
            <a:pPr lvl="0" indent="0" marL="0">
              <a:spcBef>
                <a:spcPts val="3000"/>
              </a:spcBef>
              <a:buNone/>
            </a:pPr>
            <a:r>
              <a:rPr b="1"/>
              <a:t>Activity 3 — Sketch Two, Choose One (25 min)</a:t>
            </a:r>
          </a:p>
          <a:p>
            <a:pPr lvl="0" indent="0" marL="0">
              <a:buNone/>
            </a:pPr>
            <a:r>
              <a:rPr/>
              <a:t>Each team sketches </a:t>
            </a:r>
            <a:r>
              <a:rPr b="1"/>
              <a:t>two different concepts</a:t>
            </a:r>
            <a:r>
              <a:rPr/>
              <a:t> for their brief (side + top view, features labeled). Committing to your first idea is the rookie mistake — comparing two forces real design thinking. Teams pick one, and must say what the winning concept trades away.</a:t>
            </a:r>
          </a:p>
          <a:p>
            <a:pPr lvl="0" indent="0" marL="0">
              <a:spcBef>
                <a:spcPts val="3000"/>
              </a:spcBef>
              <a:buNone/>
            </a:pPr>
            <a:r>
              <a:rPr b="1"/>
              <a:t>Activity 4 — Build the Concept Model (35 min)</a:t>
            </a:r>
          </a:p>
          <a:p>
            <a:pPr lvl="0" indent="0" marL="0">
              <a:buNone/>
            </a:pPr>
            <a:r>
              <a:rPr/>
              <a:t>Build the chosen design in cardboard/foam — a </a:t>
            </a:r>
            <a:r>
              <a:rPr b="1"/>
              <a:t>concept model</a:t>
            </a:r>
            <a:r>
              <a:rPr/>
              <a:t> that shows every must-have feature (a ramp that folds, a market stall that opens, weatherproof mail access). It doesn’t need to drive; it needs to </a:t>
            </a:r>
            <a:r>
              <a:rPr i="1"/>
              <a:t>communicate the design</a:t>
            </a:r>
            <a:r>
              <a:rPr/>
              <a:t>.</a:t>
            </a:r>
          </a:p>
          <a:p>
            <a:pPr lvl="0" indent="0" marL="0">
              <a:spcBef>
                <a:spcPts val="3000"/>
              </a:spcBef>
              <a:buNone/>
            </a:pPr>
            <a:r>
              <a:rPr b="1"/>
              <a:t>Activity 5 — Design Review (10 min) + Wrap (5 min)</a:t>
            </a:r>
          </a:p>
          <a:p>
            <a:pPr lvl="0" indent="0" marL="0">
              <a:buNone/>
            </a:pPr>
            <a:r>
              <a:rPr/>
              <a:t>Each team presents: user, must-haves, the trade-off they chose, and the feature they’re proudest of. Audience asks one “what about…?” question per team — designers defending choices is the real job.</a:t>
            </a:r>
          </a:p>
          <a:p>
            <a:pPr lvl="0" indent="0" marL="1270000">
              <a:buNone/>
            </a:pPr>
            <a:r>
              <a:rPr sz="2000" b="1"/>
              <a:t>Robot moment (optional):</a:t>
            </a:r>
            <a:r>
              <a:rPr sz="2000"/>
              <a:t> Share for 60 seconds how the team designs its robot each season under the same triangle — speed vs. capability vs. not-breaking — and what this year’s robot traded away.</a:t>
            </a:r>
          </a:p>
          <a:p>
            <a:pPr lvl="0" indent="0" marL="0">
              <a:spcBef>
                <a:spcPts val="3000"/>
              </a:spcBef>
              <a:buNone/>
            </a:pPr>
            <a:r>
              <a:rPr b="1"/>
              <a:t>Completion Checklist — Automotive Design</a:t>
            </a:r>
          </a:p>
          <a:p>
            <a:pPr lvl="0" indent="0" marL="0">
              <a:buNone/>
            </a:pPr>
            <a:r>
              <a:rPr/>
              <a:t>By the end of the session, to earn the badge, each Scout can: - [ ] Explain how style, function, and safety trade off in vehicle design - [ ] Turn a user’s needs into a must-have requirements list - [ ] Compare two concept sketches and justify a choice - [ ] Build and present a concept model that shows the design’s key features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Mentor Guide (for the robotics team)</a:t>
            </a:r>
          </a:p>
        </p:txBody>
      </p:sp>
      <p:sp>
        <p:nvSpPr>
          <p:cNvPr id="3" name="Content Placeholder 2"/>
          <p:cNvSpPr>
            <a:spLocks noGrp="1"/>
          </p:cNvSpPr>
          <p:nvPr>
            <p:ph idx="1"/>
          </p:nvPr>
        </p:nvSpPr>
        <p:spPr/>
        <p:txBody>
          <a:bodyPr/>
          <a:lstStyle/>
          <a:p>
            <a:pPr lvl="0"/>
            <a:r>
              <a:rPr b="1"/>
              <a:t>You don’t need a robot for this.</a:t>
            </a:r>
            <a:r>
              <a:rPr/>
              <a:t> Cardboard and sketches carry the session; the “robot moment” is a 60-second add-on.</a:t>
            </a:r>
          </a:p>
          <a:p>
            <a:pPr lvl="0"/>
            <a:r>
              <a:rPr b="1"/>
              <a:t>Two sketches, always.</a:t>
            </a:r>
            <a:r>
              <a:rPr/>
              <a:t> Enforce it kindly — it’s the single best design habit in the session.</a:t>
            </a:r>
          </a:p>
          <a:p>
            <a:pPr lvl="0"/>
            <a:r>
              <a:rPr b="1"/>
              <a:t>Push the trade-off question.</a:t>
            </a:r>
            <a:r>
              <a:rPr/>
              <a:t> “What did your design give up?” separates designing from decorating.</a:t>
            </a:r>
          </a:p>
          <a:p>
            <a:pPr lvl="0"/>
            <a:r>
              <a:rPr b="1"/>
              <a:t>Users with real constraints</a:t>
            </a:r>
            <a:r>
              <a:rPr/>
              <a:t> (the wheelchair-accessible brief especially) produce the most thoughtful designs — give those briefs your strongest teams or extra support.</a:t>
            </a:r>
          </a:p>
          <a:p>
            <a:pPr lvl="0"/>
            <a:r>
              <a:rPr b="1"/>
              <a:t>Model good design reviews.</a:t>
            </a:r>
            <a:r>
              <a:rPr/>
              <a:t> Ask curious “what about…?” questions, never gotchas.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Share Your Impact — required for teams and troops using this curriculum</a:t>
            </a:r>
          </a:p>
        </p:txBody>
      </p:sp>
      <p:sp>
        <p:nvSpPr>
          <p:cNvPr id="3" name="Content Placeholder 2"/>
          <p:cNvSpPr>
            <a:spLocks noGrp="1"/>
          </p:cNvSpPr>
          <p:nvPr>
            <p:ph idx="1"/>
          </p:nvPr>
        </p:nvSpPr>
        <p:spPr/>
        <p:txBody>
          <a:bodyPr/>
          <a:lstStyle/>
          <a:p>
            <a:pPr lvl="0" indent="0" marL="0">
              <a:buNone/>
            </a:pPr>
            <a:r>
              <a:rPr/>
              <a:t>If you use Girls Build Bots materials to run a workshop, please complete all three:</a:t>
            </a:r>
          </a:p>
          <a:p>
            <a:pPr lvl="0" indent="-342900" marL="342900">
              <a:buAutoNum type="arabicPeriod"/>
            </a:pPr>
            <a:r>
              <a:rPr b="1"/>
              <a:t>Credit us.</a:t>
            </a:r>
            <a:r>
              <a:rPr/>
              <a:t> Tell your Scouts and audience that the curriculum comes from Girls Build Bots, and credit “Girls Build Bots” anywhere you share about the event.</a:t>
            </a:r>
          </a:p>
          <a:p>
            <a:pPr lvl="0" indent="-342900" marL="342900">
              <a:buAutoNum type="arabicPeriod"/>
            </a:pPr>
            <a:r>
              <a:rPr b="1"/>
              <a:t>Tag us.</a:t>
            </a:r>
            <a:r>
              <a:rPr/>
              <a:t> Post about your workshop and tag </a:t>
            </a:r>
            <a:r>
              <a:rPr b="1"/>
              <a:t>@girlsbuildbots</a:t>
            </a:r>
            <a:r>
              <a:rPr/>
              <a:t> on Instagram.</a:t>
            </a:r>
          </a:p>
          <a:p>
            <a:pPr lvl="0" indent="-342900" marL="342900">
              <a:buAutoNum type="arabicPeriod"/>
            </a:pPr>
            <a:r>
              <a:rPr b="1"/>
              <a:t>Report your results.</a:t>
            </a:r>
            <a:r>
              <a:rPr/>
              <a:t> Email </a:t>
            </a:r>
            <a:r>
              <a:rPr b="1"/>
              <a:t>girlsbuildbots@gmail.com</a:t>
            </a:r>
            <a:r>
              <a:rPr/>
              <a:t> with: the number of girls who participated, the number of badges earned, and a sentence or two of feedback on how it went.</a:t>
            </a:r>
          </a:p>
          <a:p>
            <a:pPr lvl="0" indent="0" marL="0">
              <a:buNone/>
            </a:pPr>
            <a:r>
              <a:rPr/>
              <a:t>This is how the program grows and how we measure our impact — your report becomes part of the Girls Build Bots story and helps the next troop and team.</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Created for the “Girls Build Bots” Girl Scout Gold Award project. Original curriculum aligned to the Junior Automotive Engineering badge series; official requirements © Girl Scouts of the USA, available to troop leaders in the Volunteer Toolkit.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3864"/>
      </a:dk2>
      <a:lt2>
        <a:srgbClr val="EEECE1"/>
      </a:lt2>
      <a:accent1>
        <a:srgbClr val="1F3864"/>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3864"/>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2026-08-11T04:43:58Z</dcterms:created>
  <dcterms:modified xsi:type="dcterms:W3CDTF">2026-08-11T04:43:58Z</dcterms:modified>
</cp:coreProperties>
</file>

<file path=docProps/custom.xml><?xml version="1.0" encoding="utf-8"?>
<Properties xmlns="http://schemas.openxmlformats.org/officeDocument/2006/custom-properties" xmlns:vt="http://schemas.openxmlformats.org/officeDocument/2006/docPropsVTypes"/>
</file>