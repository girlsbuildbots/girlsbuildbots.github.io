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Cadette Cybersecurity Safeguards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Cadettes (Grades 6–8) · </a:t>
            </a:r>
            <a:r>
              <a:rPr b="1"/>
              <a:t>Badge:</a:t>
            </a:r>
            <a:r>
              <a:rPr/>
              <a:t> Cybersecurity — Cybersecurity Safeguards </a:t>
            </a:r>
            <a:r>
              <a:rPr b="1"/>
              <a:t>Series:</a:t>
            </a:r>
            <a:r>
              <a:rPr/>
              <a:t> Cybersecurity (Basics · Safeguards · Investigator) </a:t>
            </a:r>
            <a:r>
              <a:rPr b="1"/>
              <a:t>Format:</a:t>
            </a:r>
            <a:r>
              <a:rPr/>
              <a:t> One 2-hour session · </a:t>
            </a:r>
            <a:r>
              <a:rPr b="1"/>
              <a:t>Ratio:</a:t>
            </a:r>
            <a:r>
              <a:rPr/>
              <a:t> 1 mentor per 5–6 Scouts </a:t>
            </a:r>
            <a:r>
              <a:rPr b="1"/>
              <a:t>Who runs it:</a:t>
            </a:r>
            <a:r>
              <a:rPr/>
              <a:t> A FIRST robotics team (FLL / FTC / FRC) leading the session. A physical robot is a nice bonus but </a:t>
            </a:r>
            <a:r>
              <a:rPr b="1"/>
              <a:t>not required</a:t>
            </a:r>
            <a:r>
              <a:rPr/>
              <a:t> — every activity runs on printed materials and free browser tools.</a:t>
            </a:r>
          </a:p>
          <a:p>
            <a:pPr lvl="0" indent="0" marL="1270000">
              <a:buNone/>
            </a:pPr>
            <a:r>
              <a:rPr sz="2000" b="1"/>
              <a:t>Troop Leaders:</a:t>
            </a:r>
            <a:r>
              <a:rPr sz="2000"/>
              <a:t> This curriculum is designed to </a:t>
            </a:r>
            <a:r>
              <a:rPr sz="2000" i="1"/>
              <a:t>align with</a:t>
            </a:r>
            <a:r>
              <a:rPr sz="2000"/>
              <a:t> the Cadette Cybersecurity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understanding, protecting, investigating</a:t>
            </a:r>
          </a:p>
        </p:txBody>
      </p:sp>
      <p:sp>
        <p:nvSpPr>
          <p:cNvPr id="3" name="Content Placeholder 2"/>
          <p:cNvSpPr>
            <a:spLocks noGrp="1"/>
          </p:cNvSpPr>
          <p:nvPr>
            <p:ph idx="1"/>
          </p:nvPr>
        </p:nvSpPr>
        <p:spPr/>
        <p:txBody>
          <a:bodyPr/>
          <a:lstStyle/>
          <a:p>
            <a:pPr lvl="0" indent="0" marL="0">
              <a:buNone/>
            </a:pPr>
            <a:r>
              <a:rPr/>
              <a:t>At the Cadette level, Safeguards gets real: attackers mostly don’t hack computers — they hack </a:t>
            </a:r>
            <a:r>
              <a:rPr i="1"/>
              <a:t>people</a:t>
            </a:r>
            <a:r>
              <a:rPr/>
              <a:t>. Social engineering, urgency, impersonation. The defense is a calm, skeptical mind plus a few strong technical habits.</a:t>
            </a:r>
          </a:p>
          <a:p>
            <a:pPr lvl="0" indent="0" marL="0">
              <a:buNone/>
            </a:pPr>
            <a:r>
              <a:rPr b="1"/>
              <a:t>Vocabulary:</a:t>
            </a:r>
            <a:r>
              <a:rPr/>
              <a:t> social engineering, phishing, impersonation, authentication, two-factor (2FA), password manager, privacy audit.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Cybersecurity Safeguards (2 hours)</a:t>
            </a:r>
          </a:p>
        </p:txBody>
      </p:sp>
      <p:sp>
        <p:nvSpPr>
          <p:cNvPr id="3" name="Content Placeholder 2"/>
          <p:cNvSpPr>
            <a:spLocks noGrp="1"/>
          </p:cNvSpPr>
          <p:nvPr>
            <p:ph idx="1"/>
          </p:nvPr>
        </p:nvSpPr>
        <p:spPr/>
        <p:txBody>
          <a:bodyPr/>
          <a:lstStyle/>
          <a:p>
            <a:pPr lvl="0" indent="0" marL="0">
              <a:buNone/>
            </a:pPr>
            <a:r>
              <a:rPr b="1"/>
              <a:t>Badge theme:</a:t>
            </a:r>
            <a:r>
              <a:rPr/>
              <a:t> Real protection strategies — authentication, social-engineering defense, and deliberately securing your digital life.</a:t>
            </a:r>
          </a:p>
          <a:p>
            <a:pPr lvl="0" indent="0" marL="0">
              <a:spcBef>
                <a:spcPts val="3000"/>
              </a:spcBef>
              <a:buNone/>
            </a:pPr>
            <a:r>
              <a:rPr b="1"/>
              <a:t>Materials</a:t>
            </a:r>
          </a:p>
          <a:p>
            <a:pPr lvl="0"/>
            <a:r>
              <a:rPr b="1"/>
              <a:t>Made-up</a:t>
            </a:r>
            <a:r>
              <a:rPr/>
              <a:t> credential examples for the authentication lab (never real passwords — state this rule aloud)</a:t>
            </a:r>
          </a:p>
          <a:p>
            <a:pPr lvl="0"/>
            <a:r>
              <a:rPr/>
              <a:t>Mentor-made “social engineering” scenario deck: printed DMs/emails/texts with escalating subtlety (fake giveaway → fake friend-in-trouble → fake “school office” request → one perfectly legit message mixed in)</a:t>
            </a:r>
          </a:p>
          <a:p>
            <a:pPr lvl="0"/>
            <a:r>
              <a:rPr/>
              <a:t>“Privacy audit” checklist worksheet (account types, what each knows about you, sharing settings to review with a parent)</a:t>
            </a:r>
          </a:p>
          <a:p>
            <a:pPr lvl="0"/>
            <a:r>
              <a:rPr/>
              <a:t>Optional: NOVA Cybersecurity Lab for reinforcement</a:t>
            </a:r>
          </a:p>
          <a:p>
            <a:pPr lvl="0" indent="0" marL="0">
              <a:spcBef>
                <a:spcPts val="3000"/>
              </a:spcBef>
              <a:buNone/>
            </a:pPr>
            <a:r>
              <a:rPr b="1"/>
              <a:t>Activity 1 — Two Locks Beat One (Authentication Lab) (25 min)</a:t>
            </a:r>
          </a:p>
          <a:p>
            <a:pPr lvl="0" indent="0" marL="0">
              <a:buNone/>
            </a:pPr>
            <a:r>
              <a:rPr/>
              <a:t>Quick passphrase refresher (length beats cleverness; three-random-words method) using invented examples only — then level up to </a:t>
            </a:r>
            <a:r>
              <a:rPr b="1"/>
              <a:t>authentication</a:t>
            </a:r>
            <a:r>
              <a:rPr/>
              <a:t>: how does a system know you’re you? Something you </a:t>
            </a:r>
            <a:r>
              <a:rPr i="1"/>
              <a:t>know</a:t>
            </a:r>
            <a:r>
              <a:rPr/>
              <a:t> (passphrase), something you </a:t>
            </a:r>
            <a:r>
              <a:rPr i="1"/>
              <a:t>have</a:t>
            </a:r>
            <a:r>
              <a:rPr/>
              <a:t> (a code on a phone — </a:t>
            </a:r>
            <a:r>
              <a:rPr b="1"/>
              <a:t>2FA</a:t>
            </a:r>
            <a:r>
              <a:rPr/>
              <a:t>), something you </a:t>
            </a:r>
            <a:r>
              <a:rPr i="1"/>
              <a:t>are</a:t>
            </a:r>
            <a:r>
              <a:rPr/>
              <a:t> (fingerprint). Demo the logic: a stolen passphrase alone fails against 2FA. Mention </a:t>
            </a:r>
            <a:r>
              <a:rPr b="1"/>
              <a:t>password managers</a:t>
            </a:r>
            <a:r>
              <a:rPr/>
              <a:t> as the grown-up tool: one strong master passphrase, unique passwords everywhere else. Each Scout leaves with a written personal authentication plan (made-up examples, real methods).</a:t>
            </a:r>
          </a:p>
          <a:p>
            <a:pPr lvl="0" indent="0" marL="0">
              <a:spcBef>
                <a:spcPts val="3000"/>
              </a:spcBef>
              <a:buNone/>
            </a:pPr>
            <a:r>
              <a:rPr b="1"/>
              <a:t>Activity 2 — Social Engineering Defense (40 min)</a:t>
            </a:r>
          </a:p>
          <a:p>
            <a:pPr lvl="0" indent="0" marL="0">
              <a:buNone/>
            </a:pPr>
            <a:r>
              <a:rPr/>
              <a:t>The heart of the session. Work the scenario deck in teams: for each message, identify the </a:t>
            </a:r>
            <a:r>
              <a:rPr b="1"/>
              <a:t>manipulation lever</a:t>
            </a:r>
            <a:r>
              <a:rPr/>
              <a:t> — urgency (“in the next 10 minutes!”), authority (“this is the school office”), emotion (“your friend is stranded”), reward (“you’ve been selected”). Then the counter-move: </a:t>
            </a:r>
            <a:r>
              <a:rPr b="1"/>
              <a:t>slow down, verify through a separate channel</a:t>
            </a:r>
            <a:r>
              <a:rPr/>
              <a:t> (call the real number, ask the real friend in person), never act on pressure. The deck’s planted legit message matters: the skill is discrimination, not blanket paranoia. Score: which team correctly sorts the full deck </a:t>
            </a:r>
            <a:r>
              <a:rPr i="1"/>
              <a:t>and</a:t>
            </a:r>
            <a:r>
              <a:rPr/>
              <a:t> names each lever?</a:t>
            </a:r>
          </a:p>
          <a:p>
            <a:pPr lvl="0" indent="0" marL="0">
              <a:spcBef>
                <a:spcPts val="3000"/>
              </a:spcBef>
              <a:buNone/>
            </a:pPr>
            <a:r>
              <a:rPr b="1"/>
              <a:t>Activity 3 — Privacy Audit Workshop (30 min)</a:t>
            </a:r>
          </a:p>
          <a:p>
            <a:pPr lvl="0" indent="0" marL="0">
              <a:buNone/>
            </a:pPr>
            <a:r>
              <a:rPr/>
              <a:t>Each Cadette works the audit checklist against her own digital life </a:t>
            </a:r>
            <a:r>
              <a:rPr i="1"/>
              <a:t>from memory</a:t>
            </a:r>
            <a:r>
              <a:rPr/>
              <a:t> (no logging in at the workshop): what accounts exist, what does each know, who can see what, what would she change? Deliverable: a top-three action list to complete at home </a:t>
            </a:r>
            <a:r>
              <a:rPr b="1"/>
              <a:t>with a parent</a:t>
            </a:r>
            <a:r>
              <a:rPr/>
              <a:t> — tighten one setting, enable 2FA somewhere, retire an unused account. Frame it as taking inventory of your own house keys.</a:t>
            </a:r>
          </a:p>
          <a:p>
            <a:pPr lvl="0" indent="0" marL="0">
              <a:spcBef>
                <a:spcPts val="3000"/>
              </a:spcBef>
              <a:buNone/>
            </a:pPr>
            <a:r>
              <a:rPr b="1"/>
              <a:t>Activity 4 — Defense Drill (15 min) + Wrap (10 min)</a:t>
            </a:r>
          </a:p>
          <a:p>
            <a:pPr lvl="0" indent="0" marL="0">
              <a:buNone/>
            </a:pPr>
            <a:r>
              <a:rPr/>
              <a:t>Rapid-fire: mentors read scenarios; teams call the lever and the counter-move. Closing: each Scout names the manipulation lever she thinks would most likely have worked on her </a:t>
            </a:r>
            <a:r>
              <a:rPr i="1"/>
              <a:t>before</a:t>
            </a:r>
            <a:r>
              <a:rPr/>
              <a:t> today — honest self-awareness is the strongest safeguard in the room.</a:t>
            </a:r>
          </a:p>
          <a:p>
            <a:pPr lvl="0" indent="0" marL="1270000">
              <a:buNone/>
            </a:pPr>
            <a:r>
              <a:rPr sz="2000" b="1"/>
              <a:t>Robot moment (optional):</a:t>
            </a:r>
            <a:r>
              <a:rPr sz="2000"/>
              <a:t> Share for 60 seconds how the team protects accounts and code with unique passphrases and 2FA — and why “someone urgently needs the team login” is a message you verify, never obey.</a:t>
            </a:r>
          </a:p>
          <a:p>
            <a:pPr lvl="0" indent="0" marL="0">
              <a:spcBef>
                <a:spcPts val="3000"/>
              </a:spcBef>
              <a:buNone/>
            </a:pPr>
            <a:r>
              <a:rPr b="1"/>
              <a:t>Completion Checklist — Cybersecurity Safeguards</a:t>
            </a:r>
          </a:p>
          <a:p>
            <a:pPr lvl="0" indent="0" marL="0">
              <a:buNone/>
            </a:pPr>
            <a:r>
              <a:rPr/>
              <a:t>By the end of the session, to earn the badge, each Scout can: - [ ] Explain authentication factors and why 2FA defeats a stolen password - [ ] Identify the manipulation lever in a social-engineering attempt - [ ] Apply the verify-through-another-channel counter-move - [ ] Complete a privacy audit and commit to three concrete improvements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Never touch real credentials.</a:t>
            </a:r>
            <a:r>
              <a:rPr/>
              <a:t> All examples invented; no logging into anything during the session. Say the rule aloud — it </a:t>
            </a:r>
            <a:r>
              <a:rPr i="1"/>
              <a:t>is</a:t>
            </a:r>
            <a:r>
              <a:rPr/>
              <a:t> the lesson.</a:t>
            </a:r>
          </a:p>
          <a:p>
            <a:pPr lvl="0"/>
            <a:r>
              <a:rPr b="1"/>
              <a:t>You don’t need a robot for this.</a:t>
            </a:r>
            <a:r>
              <a:rPr/>
              <a:t> The “robot moment” is a 60-second add-on.</a:t>
            </a:r>
          </a:p>
          <a:p>
            <a:pPr lvl="0"/>
            <a:r>
              <a:rPr b="1"/>
              <a:t>Make scenarios age-real.</a:t>
            </a:r>
            <a:r>
              <a:rPr/>
              <a:t> Game-currency scams, fake giveaway DMs, “friend” asking for a code — their world, not banking fraud.</a:t>
            </a:r>
          </a:p>
          <a:p>
            <a:pPr lvl="0"/>
            <a:r>
              <a:rPr b="1"/>
              <a:t>Include the legit message.</a:t>
            </a:r>
            <a:r>
              <a:rPr/>
              <a:t> Blanket suspicion isn’t the skill; discrimination is. Debrief why the real one was believable.</a:t>
            </a:r>
          </a:p>
          <a:p>
            <a:pPr lvl="0"/>
            <a:r>
              <a:rPr b="1"/>
              <a:t>Confidence, not fear.</a:t>
            </a:r>
            <a:r>
              <a:rPr/>
              <a:t> The closing tone: “you now see the levers — they don’t work as well on someone who sees them.”</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Cadette Cybersecurity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2026-08-11T04:43:56Z</dcterms:created>
  <dcterms:modified xsi:type="dcterms:W3CDTF">2026-08-11T04:43:56Z</dcterms:modified>
</cp:coreProperties>
</file>

<file path=docProps/custom.xml><?xml version="1.0" encoding="utf-8"?>
<Properties xmlns="http://schemas.openxmlformats.org/officeDocument/2006/custom-properties" xmlns:vt="http://schemas.openxmlformats.org/officeDocument/2006/docPropsVTypes"/>
</file>