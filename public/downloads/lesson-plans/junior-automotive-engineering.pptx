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Automotive Engineering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Juniors (Grades 4–5) · </a:t>
            </a:r>
            <a:r>
              <a:rPr b="1"/>
              <a:t>Badge:</a:t>
            </a:r>
            <a:r>
              <a:rPr/>
              <a:t> Automotive Engineering — Automotive Engineering </a:t>
            </a:r>
            <a:r>
              <a:rPr b="1"/>
              <a:t>Series:</a:t>
            </a:r>
            <a:r>
              <a:rPr/>
              <a:t> Automotive Engineering (Design · Engineering · Manufacturing) </a:t>
            </a:r>
            <a:r>
              <a:rPr b="1"/>
              <a:t>Format:</a:t>
            </a:r>
            <a:r>
              <a:rPr/>
              <a:t> One 90–120 minute session · </a:t>
            </a:r>
            <a:r>
              <a:rPr b="1"/>
              <a:t>Ratio:</a:t>
            </a:r>
            <a:r>
              <a:rPr/>
              <a:t> 1 mentor per 4–5 Scouts </a:t>
            </a:r>
            <a:r>
              <a:rPr b="1"/>
              <a:t>Who runs it:</a:t>
            </a:r>
            <a:r>
              <a:rPr/>
              <a:t> A FIRST robotics team (FLL / FTC / FRC) leading the session. A physical robot is a nice bonus but </a:t>
            </a:r>
            <a:r>
              <a:rPr b="1"/>
              <a:t>not required</a:t>
            </a:r>
            <a:r>
              <a:rPr/>
              <a:t> — every activity runs on craft supplies plus balloons the team or troop can provide.</a:t>
            </a:r>
          </a:p>
          <a:p>
            <a:pPr lvl="0" indent="0" marL="1270000">
              <a:buNone/>
            </a:pPr>
            <a:r>
              <a:rPr sz="2000" b="1"/>
              <a:t>Troop Leaders:</a:t>
            </a:r>
            <a:r>
              <a:rPr sz="2000"/>
              <a:t> This curriculum is designed to </a:t>
            </a:r>
            <a:r>
              <a:rPr sz="2000" i="1"/>
              <a:t>align with</a:t>
            </a:r>
            <a:r>
              <a:rPr sz="2000"/>
              <a:t> the Junior Automotive Engineering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from idea to road</a:t>
            </a:r>
          </a:p>
        </p:txBody>
      </p:sp>
      <p:sp>
        <p:nvSpPr>
          <p:cNvPr id="3" name="Content Placeholder 2"/>
          <p:cNvSpPr>
            <a:spLocks noGrp="1"/>
          </p:cNvSpPr>
          <p:nvPr>
            <p:ph idx="1"/>
          </p:nvPr>
        </p:nvSpPr>
        <p:spPr/>
        <p:txBody>
          <a:bodyPr/>
          <a:lstStyle/>
          <a:p>
            <a:pPr lvl="0" indent="0" marL="0">
              <a:buNone/>
            </a:pPr>
            <a:r>
              <a:rPr/>
              <a:t>Design it, </a:t>
            </a:r>
            <a:r>
              <a:rPr b="1"/>
              <a:t>engineer it to perform</a:t>
            </a:r>
            <a:r>
              <a:rPr/>
              <a:t>, manufacture it at scale. This is the test-and-measure badge: Juniors run real performance trials, protect a “passenger,” and improve through fair testing.</a:t>
            </a:r>
          </a:p>
          <a:p>
            <a:pPr lvl="0" indent="0" marL="0">
              <a:buNone/>
            </a:pPr>
            <a:r>
              <a:rPr b="1"/>
              <a:t>Vocabulary:</a:t>
            </a:r>
            <a:r>
              <a:rPr/>
              <a:t> propulsion, thrust, friction, variable, fair test, data, trial, crash safety, iterate.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Automotive Engineering (90–120 minutes)</a:t>
            </a:r>
          </a:p>
        </p:txBody>
      </p:sp>
      <p:sp>
        <p:nvSpPr>
          <p:cNvPr id="3" name="Content Placeholder 2"/>
          <p:cNvSpPr>
            <a:spLocks noGrp="1"/>
          </p:cNvSpPr>
          <p:nvPr>
            <p:ph idx="1"/>
          </p:nvPr>
        </p:nvSpPr>
        <p:spPr/>
        <p:txBody>
          <a:bodyPr/>
          <a:lstStyle/>
          <a:p>
            <a:pPr lvl="0" indent="0" marL="0">
              <a:buNone/>
            </a:pPr>
            <a:r>
              <a:rPr b="1"/>
              <a:t>Badge theme:</a:t>
            </a:r>
            <a:r>
              <a:rPr/>
              <a:t> Testing and refining vehicles like automotive engineers — measuring performance, changing one variable at a time, and protecting the passenger.</a:t>
            </a:r>
          </a:p>
          <a:p>
            <a:pPr lvl="0" indent="0" marL="0">
              <a:spcBef>
                <a:spcPts val="3000"/>
              </a:spcBef>
              <a:buNone/>
            </a:pPr>
            <a:r>
              <a:rPr b="1"/>
              <a:t>Materials</a:t>
            </a:r>
          </a:p>
          <a:p>
            <a:pPr lvl="0"/>
            <a:r>
              <a:rPr/>
              <a:t>Balloons, flexible straws, tape, cardboard/foam chassis material, bottle-cap or CD wheels, skewer axles</a:t>
            </a:r>
          </a:p>
          <a:p>
            <a:pPr lvl="0"/>
            <a:r>
              <a:rPr/>
              <a:t>A smooth floor test track marked with tape at 1-foot intervals</a:t>
            </a:r>
          </a:p>
          <a:p>
            <a:pPr lvl="0"/>
            <a:r>
              <a:rPr/>
              <a:t>Data sheets: Trial / What we changed / Distance / Notes</a:t>
            </a:r>
          </a:p>
          <a:p>
            <a:pPr lvl="0"/>
            <a:r>
              <a:rPr/>
              <a:t>Eggs (or ping-pong balls marked with faces) as “passengers”; cotton balls, bubble wrap scraps, tissue for safety engineering</a:t>
            </a:r>
          </a:p>
          <a:p>
            <a:pPr lvl="0"/>
            <a:r>
              <a:rPr/>
              <a:t>A ramp + a soft wall (cushion/box) for the crash test</a:t>
            </a:r>
          </a:p>
          <a:p>
            <a:pPr lvl="0" indent="0" marL="0">
              <a:spcBef>
                <a:spcPts val="3000"/>
              </a:spcBef>
              <a:buNone/>
            </a:pPr>
            <a:r>
              <a:rPr b="1"/>
              <a:t>Activity 1 — Propulsion: the Balloon Engine (15 min)</a:t>
            </a:r>
          </a:p>
          <a:p>
            <a:pPr lvl="0" indent="0" marL="0">
              <a:buNone/>
            </a:pPr>
            <a:r>
              <a:rPr/>
              <a:t>Blow up a balloon and let it go — it flies from </a:t>
            </a:r>
            <a:r>
              <a:rPr b="1"/>
              <a:t>thrust</a:t>
            </a:r>
            <a:r>
              <a:rPr/>
              <a:t>: air pushes out backward, balloon goes forward (action–reaction). Today’s engine is a balloon; the engineering is making that thrust move a car </a:t>
            </a:r>
            <a:r>
              <a:rPr i="1"/>
              <a:t>straight and far</a:t>
            </a:r>
            <a:r>
              <a:rPr/>
              <a:t>.</a:t>
            </a:r>
          </a:p>
          <a:p>
            <a:pPr lvl="0" indent="0" marL="0">
              <a:spcBef>
                <a:spcPts val="3000"/>
              </a:spcBef>
              <a:buNone/>
            </a:pPr>
            <a:r>
              <a:rPr b="1"/>
              <a:t>Activity 2 — Build the Balloon Car (30 min)</a:t>
            </a:r>
          </a:p>
          <a:p>
            <a:pPr lvl="0" indent="0" marL="0">
              <a:buNone/>
            </a:pPr>
            <a:r>
              <a:rPr/>
              <a:t>Teams build: chassis, free-spinning axles, wheels, and a balloon with a straw nozzle taped on. First milestone: it moves under its own power. Mentors troubleshoot the classic failures — wheels rubbing the chassis (friction!), nozzle pinched, car too heavy.</a:t>
            </a:r>
          </a:p>
          <a:p>
            <a:pPr lvl="0" indent="0" marL="0">
              <a:spcBef>
                <a:spcPts val="3000"/>
              </a:spcBef>
              <a:buNone/>
            </a:pPr>
            <a:r>
              <a:rPr b="1"/>
              <a:t>Activity 3 — Test Trials with Data (30 min)</a:t>
            </a:r>
          </a:p>
          <a:p>
            <a:pPr lvl="0" indent="0" marL="0">
              <a:buNone/>
            </a:pPr>
            <a:r>
              <a:rPr/>
              <a:t>Three timed trial rounds on the track. Each round: run, measure distance, </a:t>
            </a:r>
            <a:r>
              <a:rPr b="1"/>
              <a:t>record it</a:t>
            </a:r>
            <a:r>
              <a:rPr/>
              <a:t>, then change exactly </a:t>
            </a:r>
            <a:r>
              <a:rPr b="1"/>
              <a:t>one variable</a:t>
            </a:r>
            <a:r>
              <a:rPr/>
              <a:t> (nozzle width, chassis weight, wheel size, balloon inflation) and predict the effect before re-running. The data sheet is the point — engineers don’t remember, they record. Best improvement (not best distance) gets the spotlight.</a:t>
            </a:r>
          </a:p>
          <a:p>
            <a:pPr lvl="0" indent="0" marL="0">
              <a:spcBef>
                <a:spcPts val="3000"/>
              </a:spcBef>
              <a:buNone/>
            </a:pPr>
            <a:r>
              <a:rPr b="1"/>
              <a:t>Activity 4 — Crash Safety Challenge (25 min)</a:t>
            </a:r>
          </a:p>
          <a:p>
            <a:pPr lvl="0" indent="0" marL="0">
              <a:buNone/>
            </a:pPr>
            <a:r>
              <a:rPr/>
              <a:t>New requirement: the car must carry an egg “passenger” down the ramp into the soft wall — </a:t>
            </a:r>
            <a:r>
              <a:rPr b="1"/>
              <a:t>and the passenger must survive</a:t>
            </a:r>
            <a:r>
              <a:rPr/>
              <a:t>. Teams engineer restraints and crumple zones from soft materials, then crash-test. Redesign once if the passenger “gets hurt.” This is real automotive safety engineering: the vehicle can fail; the passenger can’t.</a:t>
            </a:r>
          </a:p>
          <a:p>
            <a:pPr lvl="0" indent="0" marL="0">
              <a:spcBef>
                <a:spcPts val="3000"/>
              </a:spcBef>
              <a:buNone/>
            </a:pPr>
            <a:r>
              <a:rPr b="1"/>
              <a:t>Wrap (5 min)</a:t>
            </a:r>
          </a:p>
          <a:p>
            <a:pPr lvl="0" indent="0" marL="0">
              <a:buNone/>
            </a:pPr>
            <a:r>
              <a:rPr/>
              <a:t>Each team shares one number from their data sheet and one thing that surprised them.</a:t>
            </a:r>
          </a:p>
          <a:p>
            <a:pPr lvl="0" indent="0" marL="1270000">
              <a:buNone/>
            </a:pPr>
            <a:r>
              <a:rPr sz="2000" b="1"/>
              <a:t>Robot moment (optional):</a:t>
            </a:r>
            <a:r>
              <a:rPr sz="2000"/>
              <a:t> Share for 60 seconds how the team runs test matches and logs data on the robot, changing one thing between tests — same trials, bigger machine.</a:t>
            </a:r>
          </a:p>
          <a:p>
            <a:pPr lvl="0" indent="0" marL="0">
              <a:spcBef>
                <a:spcPts val="3000"/>
              </a:spcBef>
              <a:buNone/>
            </a:pPr>
            <a:r>
              <a:rPr b="1"/>
              <a:t>Completion Checklist — Automotive Engineering</a:t>
            </a:r>
          </a:p>
          <a:p>
            <a:pPr lvl="0" indent="0" marL="0">
              <a:buNone/>
            </a:pPr>
            <a:r>
              <a:rPr/>
              <a:t>By the end of the session, to earn the badge, each Scout can: - [ ] Explain how thrust propels a balloon car (action–reaction) - [ ] Build a vehicle that moves under its own power - [ ] Run fair tests changing one variable at a time and record the data - [ ] Engineer passenger protection and evaluate it with a crash test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Balloons and cardboard carry the whole session; the “robot moment” is a 60-second add-on.</a:t>
            </a:r>
          </a:p>
          <a:p>
            <a:pPr lvl="0"/>
            <a:r>
              <a:rPr b="1"/>
              <a:t>Enforce the data sheet.</a:t>
            </a:r>
            <a:r>
              <a:rPr/>
              <a:t> No trial counts unless it’s recorded — that’s the engineering habit this badge exists to build.</a:t>
            </a:r>
          </a:p>
          <a:p>
            <a:pPr lvl="0"/>
            <a:r>
              <a:rPr b="1"/>
              <a:t>One variable at a time.</a:t>
            </a:r>
            <a:r>
              <a:rPr/>
              <a:t> When a team changes three things, ask “so which one worked?” and let the question land.</a:t>
            </a:r>
          </a:p>
          <a:p>
            <a:pPr lvl="0"/>
            <a:r>
              <a:rPr b="1"/>
              <a:t>The egg has a name.</a:t>
            </a:r>
            <a:r>
              <a:rPr/>
              <a:t> Let teams name their passenger — the safety challenge gets delightfully serious.</a:t>
            </a:r>
          </a:p>
          <a:p>
            <a:pPr lvl="0"/>
            <a:r>
              <a:rPr b="1"/>
              <a:t>Friction is the master teacher.</a:t>
            </a:r>
            <a:r>
              <a:rPr/>
              <a:t> Wheels rubbing, axles binding — resist fixing it for them; ask “where is it losing energy?”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Junior Automotive Engineering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2026-08-11T04:43:59Z</dcterms:created>
  <dcterms:modified xsi:type="dcterms:W3CDTF">2026-08-11T04:43:59Z</dcterms:modified>
</cp:coreProperties>
</file>

<file path=docProps/custom.xml><?xml version="1.0" encoding="utf-8"?>
<Properties xmlns="http://schemas.openxmlformats.org/officeDocument/2006/custom-properties" xmlns:vt="http://schemas.openxmlformats.org/officeDocument/2006/docPropsVTypes"/>
</file>