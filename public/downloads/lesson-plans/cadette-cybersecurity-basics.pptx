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Cadette Cybersecurity Basics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Cadettes (Grades 6–8) · </a:t>
            </a:r>
            <a:r>
              <a:rPr b="1"/>
              <a:t>Badge:</a:t>
            </a:r>
            <a:r>
              <a:rPr/>
              <a:t> Cybersecurity — Cybersecurity Basics </a:t>
            </a:r>
            <a:r>
              <a:rPr b="1"/>
              <a:t>Series:</a:t>
            </a:r>
            <a:r>
              <a:rPr/>
              <a:t> Cybersecurity (Basics · Safeguards · Investigator) </a:t>
            </a:r>
            <a:r>
              <a:rPr b="1"/>
              <a:t>Format:</a:t>
            </a:r>
            <a:r>
              <a:rPr/>
              <a:t> One 2-hour session · </a:t>
            </a:r>
            <a:r>
              <a:rPr b="1"/>
              <a:t>Ratio:</a:t>
            </a:r>
            <a:r>
              <a:rPr/>
              <a:t> 1 mentor per 5–6 Scouts </a:t>
            </a:r>
            <a:r>
              <a:rPr b="1"/>
              <a:t>Who runs it:</a:t>
            </a:r>
            <a:r>
              <a:rPr/>
              <a:t> A FIRST robotics team (FLL / FTC / FRC) leading the session. A physical robot is a nice bonus but </a:t>
            </a:r>
            <a:r>
              <a:rPr b="1"/>
              <a:t>not required</a:t>
            </a:r>
            <a:r>
              <a:rPr/>
              <a:t> — every activity runs on props and free browser tools.</a:t>
            </a:r>
          </a:p>
          <a:p>
            <a:pPr lvl="0" indent="0" marL="1270000">
              <a:buNone/>
            </a:pPr>
            <a:r>
              <a:rPr sz="2000" b="1"/>
              <a:t>Troop Leaders:</a:t>
            </a:r>
            <a:r>
              <a:rPr sz="2000"/>
              <a:t> This curriculum is designed to </a:t>
            </a:r>
            <a:r>
              <a:rPr sz="2000" i="1"/>
              <a:t>align with</a:t>
            </a:r>
            <a:r>
              <a:rPr sz="2000"/>
              <a:t> the Cadette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understanding, protecting, investigating</a:t>
            </a:r>
          </a:p>
        </p:txBody>
      </p:sp>
      <p:sp>
        <p:nvSpPr>
          <p:cNvPr id="3" name="Content Placeholder 2"/>
          <p:cNvSpPr>
            <a:spLocks noGrp="1"/>
          </p:cNvSpPr>
          <p:nvPr>
            <p:ph idx="1"/>
          </p:nvPr>
        </p:nvSpPr>
        <p:spPr/>
        <p:txBody>
          <a:bodyPr/>
          <a:lstStyle/>
          <a:p>
            <a:pPr lvl="0" indent="0" marL="0">
              <a:buNone/>
            </a:pPr>
            <a:r>
              <a:rPr/>
              <a:t>Cadettes get the honest, technical version: how the internet actually moves their data, what encryption really does, and what happens to information they hand over. Knowledge over fear — a Cadette who understands the system protects herself better than one who’s just been warned about it.</a:t>
            </a:r>
          </a:p>
          <a:p>
            <a:pPr lvl="0" indent="0" marL="0">
              <a:buNone/>
            </a:pPr>
            <a:r>
              <a:rPr b="1"/>
              <a:t>Vocabulary:</a:t>
            </a:r>
            <a:r>
              <a:rPr/>
              <a:t> packet, router, IP address, encryption, key, HTTPS, server, metadata.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Basics (2 hours)</a:t>
            </a:r>
          </a:p>
        </p:txBody>
      </p:sp>
      <p:sp>
        <p:nvSpPr>
          <p:cNvPr id="3" name="Content Placeholder 2"/>
          <p:cNvSpPr>
            <a:spLocks noGrp="1"/>
          </p:cNvSpPr>
          <p:nvPr>
            <p:ph idx="1"/>
          </p:nvPr>
        </p:nvSpPr>
        <p:spPr/>
        <p:txBody>
          <a:bodyPr/>
          <a:lstStyle/>
          <a:p>
            <a:pPr lvl="0" indent="0" marL="0">
              <a:buNone/>
            </a:pPr>
            <a:r>
              <a:rPr b="1"/>
              <a:t>Badge theme:</a:t>
            </a:r>
            <a:r>
              <a:rPr/>
              <a:t> How the internet works — networks, packets, encryption — and what happens to your data along the way.</a:t>
            </a:r>
          </a:p>
          <a:p>
            <a:pPr lvl="0" indent="0" marL="0">
              <a:spcBef>
                <a:spcPts val="3000"/>
              </a:spcBef>
              <a:buNone/>
            </a:pPr>
            <a:r>
              <a:rPr b="1"/>
              <a:t>Materials</a:t>
            </a:r>
          </a:p>
          <a:p>
            <a:pPr lvl="0"/>
            <a:r>
              <a:rPr/>
              <a:t>Envelope-and-index-card kits for the packet game (messages split across 3 numbered cards)</a:t>
            </a:r>
          </a:p>
          <a:p>
            <a:pPr lvl="0"/>
            <a:r>
              <a:rPr/>
              <a:t>Caesar-cipher wheels (printable) + a “key” slip per pair</a:t>
            </a:r>
          </a:p>
          <a:p>
            <a:pPr lvl="0"/>
            <a:r>
              <a:rPr/>
              <a:t>Devices with the </a:t>
            </a:r>
            <a:r>
              <a:rPr b="1"/>
              <a:t>NOVA Cybersecurity Lab</a:t>
            </a:r>
            <a:r>
              <a:rPr/>
              <a:t> (pbs.org/wgbh/nova/labs/lab/cyber/) or CYBER.ORG activities</a:t>
            </a:r>
          </a:p>
          <a:p>
            <a:pPr lvl="0"/>
            <a:r>
              <a:rPr/>
              <a:t>“Data trail” scenario cards (sign up for an app, post a photo, take a quiz, connect to café Wi-Fi)</a:t>
            </a:r>
          </a:p>
          <a:p>
            <a:pPr lvl="0" indent="0" marL="0">
              <a:spcBef>
                <a:spcPts val="3000"/>
              </a:spcBef>
              <a:buNone/>
            </a:pPr>
            <a:r>
              <a:rPr b="1"/>
              <a:t>Activity 1 — The Packet Game (25 min)</a:t>
            </a:r>
          </a:p>
          <a:p>
            <a:pPr lvl="0" indent="0" marL="0">
              <a:buNone/>
            </a:pPr>
            <a:r>
              <a:rPr/>
              <a:t>Real messages don’t travel whole — they’re split into </a:t>
            </a:r>
            <a:r>
              <a:rPr b="1"/>
              <a:t>packets</a:t>
            </a:r>
            <a:r>
              <a:rPr/>
              <a:t> that hop router to router and reassemble at the destination. Simulate it: senders split a message across three numbered cards, hand them to different “router” Scouts, who pass them (possibly out of order, one deliberately delayed) to the receiver, who reassembles by number. Round 2: a “snooping router” reads unprotected cards aloud. </a:t>
            </a:r>
            <a:r>
              <a:rPr b="1"/>
              <a:t>Debrief:</a:t>
            </a:r>
            <a:r>
              <a:rPr/>
              <a:t> your data crosses machines you don’t control — which is exactly why encryption exists.</a:t>
            </a:r>
          </a:p>
          <a:p>
            <a:pPr lvl="0" indent="0" marL="0">
              <a:spcBef>
                <a:spcPts val="3000"/>
              </a:spcBef>
              <a:buNone/>
            </a:pPr>
            <a:r>
              <a:rPr b="1"/>
              <a:t>Activity 2 — Encryption, For Real (25 min)</a:t>
            </a:r>
          </a:p>
          <a:p>
            <a:pPr lvl="0" indent="0" marL="0">
              <a:buNone/>
            </a:pPr>
            <a:r>
              <a:rPr/>
              <a:t>Pairs encrypt messages with cipher wheels and exchange them through the snooping router — who now gets gibberish. Then the key idea Cadettes are ready for: modern encryption is this concept with math too hard to break, and </a:t>
            </a:r>
            <a:r>
              <a:rPr b="1"/>
              <a:t>HTTPS</a:t>
            </a:r>
            <a:r>
              <a:rPr/>
              <a:t> (the padlock in the browser) means it’s happening automatically. New rule of thumb: no padlock, no passwords.</a:t>
            </a:r>
          </a:p>
          <a:p>
            <a:pPr lvl="0" indent="0" marL="0">
              <a:spcBef>
                <a:spcPts val="3000"/>
              </a:spcBef>
              <a:buNone/>
            </a:pPr>
            <a:r>
              <a:rPr b="1"/>
              <a:t>Activity 3 — Where Does Your Data Go? (30 min)</a:t>
            </a:r>
          </a:p>
          <a:p>
            <a:pPr lvl="0" indent="0" marL="0">
              <a:buNone/>
            </a:pPr>
            <a:r>
              <a:rPr/>
              <a:t>Work the data-trail scenario cards in teams: for each action, map what data is generated, who receives it, and where it might travel from there (the app’s </a:t>
            </a:r>
            <a:r>
              <a:rPr b="1"/>
              <a:t>server</a:t>
            </a:r>
            <a:r>
              <a:rPr/>
              <a:t>, advertisers, “free” quiz companies). Introduce </a:t>
            </a:r>
            <a:r>
              <a:rPr b="1"/>
              <a:t>metadata</a:t>
            </a:r>
            <a:r>
              <a:rPr/>
              <a:t> — even without content, the </a:t>
            </a:r>
            <a:r>
              <a:rPr i="1"/>
              <a:t>when/where/who</a:t>
            </a:r>
            <a:r>
              <a:rPr/>
              <a:t> of your activity tells a story. Honest, calm framing: data is the price of “free,” so Cadettes should know what they’re paying.</a:t>
            </a:r>
          </a:p>
          <a:p>
            <a:pPr lvl="0" indent="0" marL="0">
              <a:spcBef>
                <a:spcPts val="3000"/>
              </a:spcBef>
              <a:buNone/>
            </a:pPr>
            <a:r>
              <a:rPr b="1"/>
              <a:t>Activity 4 — NOVA Cyber Lab Round (25 min) + Wrap (15 min)</a:t>
            </a:r>
          </a:p>
          <a:p>
            <a:pPr lvl="0" indent="0" marL="0">
              <a:buNone/>
            </a:pPr>
            <a:r>
              <a:rPr/>
              <a:t>Teams play the defense-focused lab game, connecting today’s concepts to attacks and defenses in the simulation. Closing: each Scout states one thing she understood about the internet today that she didn’t this morning, and one behavior she’ll change because of it.</a:t>
            </a:r>
          </a:p>
          <a:p>
            <a:pPr lvl="0" indent="0" marL="1270000">
              <a:buNone/>
            </a:pPr>
            <a:r>
              <a:rPr sz="2000" b="1"/>
              <a:t>Robot moment (optional):</a:t>
            </a:r>
            <a:r>
              <a:rPr sz="2000"/>
              <a:t> Share for 60 seconds how the robot and driver station exchange packets over a locked-down field network — and why the connection is secured so only the team’s station can command their robot.</a:t>
            </a:r>
          </a:p>
          <a:p>
            <a:pPr lvl="0" indent="0" marL="0">
              <a:spcBef>
                <a:spcPts val="3000"/>
              </a:spcBef>
              <a:buNone/>
            </a:pPr>
            <a:r>
              <a:rPr b="1"/>
              <a:t>Completion Checklist — Cybersecurity Basics</a:t>
            </a:r>
          </a:p>
          <a:p>
            <a:pPr lvl="0" indent="0" marL="0">
              <a:buNone/>
            </a:pPr>
            <a:r>
              <a:rPr/>
              <a:t>By the end of the session, to earn the badge, each Scout can: - [ ] Explain how data travels the internet in packets through routers - [ ] Encrypt and decrypt a message and explain what HTTPS signals - [ ] Map where personal data goes after an everyday online action - [ ] Explain what metadata reveals even without message content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Treat Cadettes as capable of the real thing.</a:t>
            </a:r>
            <a:r>
              <a:rPr/>
              <a:t> Packets, HTTPS, metadata — actual mechanics, honestly explained, beat vague warnings every time.</a:t>
            </a:r>
          </a:p>
          <a:p>
            <a:pPr lvl="0"/>
            <a:r>
              <a:rPr b="1"/>
              <a:t>You don’t need a robot for this.</a:t>
            </a:r>
            <a:r>
              <a:rPr/>
              <a:t> The “robot moment” is a 60-second add-on.</a:t>
            </a:r>
          </a:p>
          <a:p>
            <a:pPr lvl="0"/>
            <a:r>
              <a:rPr b="1"/>
              <a:t>Stage the gibberish moment.</a:t>
            </a:r>
            <a:r>
              <a:rPr/>
              <a:t> The snooper reading encrypted nonsense out loud is the session’s best beat — set it up deliberately.</a:t>
            </a:r>
          </a:p>
          <a:p>
            <a:pPr lvl="0"/>
            <a:r>
              <a:rPr b="1"/>
              <a:t>Keep the data-trail activity factual, not doom-y.</a:t>
            </a:r>
            <a:r>
              <a:rPr/>
              <a:t> The tone is “know the system,” not “the internet is out to get you.”</a:t>
            </a:r>
          </a:p>
          <a:p>
            <a:pPr lvl="0"/>
            <a:r>
              <a:rPr b="1"/>
              <a:t>Tie every abstraction to the physical games.</a:t>
            </a:r>
            <a:r>
              <a:rPr/>
              <a:t> When the lab game mentions encryption, point back at the cipher wheels.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Cadette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2026-08-11T04:43:55Z</dcterms:created>
  <dcterms:modified xsi:type="dcterms:W3CDTF">2026-08-11T04:43:55Z</dcterms:modified>
</cp:coreProperties>
</file>

<file path=docProps/custom.xml><?xml version="1.0" encoding="utf-8"?>
<Properties xmlns="http://schemas.openxmlformats.org/officeDocument/2006/custom-properties" xmlns:vt="http://schemas.openxmlformats.org/officeDocument/2006/docPropsVTypes"/>
</file>