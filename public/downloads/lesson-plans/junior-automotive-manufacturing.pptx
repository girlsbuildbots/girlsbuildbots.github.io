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Automotive Manufacturing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Automotive Engineering — Automotive Manufacturing </a:t>
            </a:r>
            <a:r>
              <a:rPr b="1"/>
              <a:t>Series:</a:t>
            </a:r>
            <a:r>
              <a:rPr/>
              <a:t> Automotive Engineering (Design · Engineering · Manufacturing)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paper/craft supplies the team or troop can provide.</a:t>
            </a:r>
          </a:p>
          <a:p>
            <a:pPr lvl="0" indent="0" marL="1270000">
              <a:buNone/>
            </a:pPr>
            <a:r>
              <a:rPr sz="2000" b="1"/>
              <a:t>Troop Leaders:</a:t>
            </a:r>
            <a:r>
              <a:rPr sz="2000"/>
              <a:t> This curriculum is designed to </a:t>
            </a:r>
            <a:r>
              <a:rPr sz="2000" i="1"/>
              <a:t>align with</a:t>
            </a:r>
            <a:r>
              <a:rPr sz="2000"/>
              <a:t> the Junior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from idea to road</a:t>
            </a:r>
          </a:p>
        </p:txBody>
      </p:sp>
      <p:sp>
        <p:nvSpPr>
          <p:cNvPr id="3" name="Content Placeholder 2"/>
          <p:cNvSpPr>
            <a:spLocks noGrp="1"/>
          </p:cNvSpPr>
          <p:nvPr>
            <p:ph idx="1"/>
          </p:nvPr>
        </p:nvSpPr>
        <p:spPr/>
        <p:txBody>
          <a:bodyPr/>
          <a:lstStyle/>
          <a:p>
            <a:pPr lvl="0" indent="0" marL="0">
              <a:buNone/>
            </a:pPr>
            <a:r>
              <a:rPr/>
              <a:t>Design it, engineer it, then </a:t>
            </a:r>
            <a:r>
              <a:rPr b="1"/>
              <a:t>manufacture it at scale</a:t>
            </a:r>
            <a:r>
              <a:rPr/>
              <a:t> — thousands of identical, safe vehicles. Juniors are ready for the real concepts: assembly lines, quality control, bottlenecks, and continuous improvement.</a:t>
            </a:r>
          </a:p>
          <a:p>
            <a:pPr lvl="0" indent="0" marL="0">
              <a:buNone/>
            </a:pPr>
            <a:r>
              <a:rPr b="1"/>
              <a:t>Vocabulary:</a:t>
            </a:r>
            <a:r>
              <a:rPr/>
              <a:t> assembly line, station, quality control, defect, bottleneck, throughput, continuous improvement.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Manufacturing (90–120 minutes)</a:t>
            </a:r>
          </a:p>
        </p:txBody>
      </p:sp>
      <p:sp>
        <p:nvSpPr>
          <p:cNvPr id="3" name="Content Placeholder 2"/>
          <p:cNvSpPr>
            <a:spLocks noGrp="1"/>
          </p:cNvSpPr>
          <p:nvPr>
            <p:ph idx="1"/>
          </p:nvPr>
        </p:nvSpPr>
        <p:spPr/>
        <p:txBody>
          <a:bodyPr/>
          <a:lstStyle/>
          <a:p>
            <a:pPr lvl="0" indent="0" marL="0">
              <a:buNone/>
            </a:pPr>
            <a:r>
              <a:rPr b="1"/>
              <a:t>Badge theme:</a:t>
            </a:r>
            <a:r>
              <a:rPr/>
              <a:t> How assembly lines, quality control, and teamwork turn one design into many identical vehicles — and how factories keep improving.</a:t>
            </a:r>
          </a:p>
          <a:p>
            <a:pPr lvl="0" indent="0" marL="0">
              <a:spcBef>
                <a:spcPts val="3000"/>
              </a:spcBef>
              <a:buNone/>
            </a:pPr>
            <a:r>
              <a:rPr b="1"/>
              <a:t>Materials</a:t>
            </a:r>
          </a:p>
          <a:p>
            <a:pPr lvl="0"/>
            <a:r>
              <a:rPr/>
              <a:t>A standard origami/paper car design with 6–7 distinct build steps (fold, wheels, windows, stripe, headlights, final check)</a:t>
            </a:r>
          </a:p>
          <a:p>
            <a:pPr lvl="0"/>
            <a:r>
              <a:rPr/>
              <a:t>Station signs + supplies pre-sorted per station; a </a:t>
            </a:r>
            <a:r>
              <a:rPr b="1"/>
              <a:t>spec card</a:t>
            </a:r>
            <a:r>
              <a:rPr/>
              <a:t> at Quality Control showing exactly what a “passing” car looks like</a:t>
            </a:r>
          </a:p>
          <a:p>
            <a:pPr lvl="0"/>
            <a:r>
              <a:rPr/>
              <a:t>Two timers; a production tally board (made / passed QC / defects)</a:t>
            </a:r>
          </a:p>
          <a:p>
            <a:pPr lvl="0"/>
            <a:r>
              <a:rPr/>
              <a:t>Sticky notes for the improvement round</a:t>
            </a:r>
          </a:p>
          <a:p>
            <a:pPr lvl="0" indent="0" marL="0">
              <a:spcBef>
                <a:spcPts val="3000"/>
              </a:spcBef>
              <a:buNone/>
            </a:pPr>
            <a:r>
              <a:rPr b="1"/>
              <a:t>Activity 1 — The Scale Problem (10 min)</a:t>
            </a:r>
          </a:p>
          <a:p>
            <a:pPr lvl="0" indent="0" marL="0">
              <a:buNone/>
            </a:pPr>
            <a:r>
              <a:rPr/>
              <a:t>One great prototype isn’t a car company — factories make </a:t>
            </a:r>
            <a:r>
              <a:rPr i="1"/>
              <a:t>thousands</a:t>
            </a:r>
            <a:r>
              <a:rPr/>
              <a:t>, identical and safe. How? Assembly lines: each worker masters one step as the product flows past. Today the troop becomes a factory, and we’ll measure it like one.</a:t>
            </a:r>
          </a:p>
          <a:p>
            <a:pPr lvl="0" indent="0" marL="0">
              <a:spcBef>
                <a:spcPts val="3000"/>
              </a:spcBef>
              <a:buNone/>
            </a:pPr>
            <a:r>
              <a:rPr b="1"/>
              <a:t>Activity 2 — Round 1: Craft Production (Solo Builds) (15 min)</a:t>
            </a:r>
          </a:p>
          <a:p>
            <a:pPr lvl="0" indent="0" marL="0">
              <a:buNone/>
            </a:pPr>
            <a:r>
              <a:rPr/>
              <a:t>Everyone builds one complete car alone, all steps, 8 minutes. Tally: how many finished? Line them up — how identical are they? Note the honest results on the board (slow, and every car’s a little different — that’s craft production).</a:t>
            </a:r>
          </a:p>
          <a:p>
            <a:pPr lvl="0" indent="0" marL="0">
              <a:spcBef>
                <a:spcPts val="3000"/>
              </a:spcBef>
              <a:buNone/>
            </a:pPr>
            <a:r>
              <a:rPr b="1"/>
              <a:t>Activity 3 — Round 2: The Assembly Line (30 min)</a:t>
            </a:r>
          </a:p>
          <a:p>
            <a:pPr lvl="0" indent="0" marL="0">
              <a:buNone/>
            </a:pPr>
            <a:r>
              <a:rPr/>
              <a:t>Set up stations with one Scout (or pair) per step, plus a </a:t>
            </a:r>
            <a:r>
              <a:rPr b="1"/>
              <a:t>Quality Control inspector</a:t>
            </a:r>
            <a:r>
              <a:rPr/>
              <a:t> with the spec card who rejects cars missing anything (rejects go back to the failing station — defects are information, not shame). Run 10 minutes. Tally throughput and defects. Almost always: more cars, more consistent — and one station drowning in a pile. Name it: a </a:t>
            </a:r>
            <a:r>
              <a:rPr b="1"/>
              <a:t>bottleneck</a:t>
            </a:r>
            <a:r>
              <a:rPr/>
              <a:t>.</a:t>
            </a:r>
          </a:p>
          <a:p>
            <a:pPr lvl="0" indent="0" marL="0">
              <a:spcBef>
                <a:spcPts val="3000"/>
              </a:spcBef>
              <a:buNone/>
            </a:pPr>
            <a:r>
              <a:rPr b="1"/>
              <a:t>Activity 4 — Kaizen Round: Improve the Line (25 min)</a:t>
            </a:r>
          </a:p>
          <a:p>
            <a:pPr lvl="0" indent="0" marL="0">
              <a:buNone/>
            </a:pPr>
            <a:r>
              <a:rPr/>
              <a:t>Real factories never run the same line twice — they improve it (</a:t>
            </a:r>
            <a:r>
              <a:rPr b="1"/>
              <a:t>continuous improvement</a:t>
            </a:r>
            <a:r>
              <a:rPr/>
              <a:t>). Team huddle: where was the bottleneck? What would fix it — move a person, split a step, pre-stage supplies? Apply the top ideas and run 10 more minutes. Compare all three rounds on the tally board: solo vs. line vs. improved line. The improvement round almost always wins big — and the </a:t>
            </a:r>
            <a:r>
              <a:rPr i="1"/>
              <a:t>Scouts</a:t>
            </a:r>
            <a:r>
              <a:rPr/>
              <a:t> engineered that gain.</a:t>
            </a:r>
          </a:p>
          <a:p>
            <a:pPr lvl="0" indent="0" marL="0">
              <a:spcBef>
                <a:spcPts val="3000"/>
              </a:spcBef>
              <a:buNone/>
            </a:pPr>
            <a:r>
              <a:rPr b="1"/>
              <a:t>Activity 5 — Debrief (10 min) + Wrap (5 min)</a:t>
            </a:r>
          </a:p>
          <a:p>
            <a:pPr lvl="0" indent="0" marL="0">
              <a:buNone/>
            </a:pPr>
            <a:r>
              <a:rPr/>
              <a:t>Three questions: Why was the line faster? Why did QC matter (would you ride in a car nobody inspected)? What did your improvement change? Count the total fleet and celebrate the team’s output — manufacturing is a team sport.</a:t>
            </a:r>
          </a:p>
          <a:p>
            <a:pPr lvl="0" indent="0" marL="1270000">
              <a:buNone/>
            </a:pPr>
            <a:r>
              <a:rPr sz="2000" b="1"/>
              <a:t>Robot moment (optional):</a:t>
            </a:r>
            <a:r>
              <a:rPr sz="2000"/>
              <a:t> Share for 60 seconds how build season runs like this — parallel stations (wiring, programming, machining), inspections before competition, and constant process improvements between events.</a:t>
            </a:r>
          </a:p>
          <a:p>
            <a:pPr lvl="0" indent="0" marL="0">
              <a:spcBef>
                <a:spcPts val="3000"/>
              </a:spcBef>
              <a:buNone/>
            </a:pPr>
            <a:r>
              <a:rPr b="1"/>
              <a:t>Completion Checklist — Automotive Manufacturing</a:t>
            </a:r>
          </a:p>
          <a:p>
            <a:pPr lvl="0" indent="0" marL="0">
              <a:buNone/>
            </a:pPr>
            <a:r>
              <a:rPr/>
              <a:t>By the end of the session, to earn the badge, each Scout can: - [ ] Explain why factories use assembly lines instead of solo craft builds - [ ] Work a station and describe how quality control catches defects - [ ] Identify a bottleneck from production data - [ ] Propose and test an improvement, and compare results across rounds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Paper cars and timers carry the session; the “robot moment” is a 60-second add-on.</a:t>
            </a:r>
          </a:p>
          <a:p>
            <a:pPr lvl="0"/>
            <a:r>
              <a:rPr b="1"/>
              <a:t>Keep the tally board honest and visible.</a:t>
            </a:r>
            <a:r>
              <a:rPr/>
              <a:t> The numbers make every concept concrete — throughput, defects, improvement.</a:t>
            </a:r>
          </a:p>
          <a:p>
            <a:pPr lvl="0"/>
            <a:r>
              <a:rPr b="1"/>
              <a:t>Defects are data.</a:t>
            </a:r>
            <a:r>
              <a:rPr/>
              <a:t> Coach the QC inspector to reject kindly and specifically (“missing left headlight”) — never “you did it wrong.”</a:t>
            </a:r>
          </a:p>
          <a:p>
            <a:pPr lvl="0"/>
            <a:r>
              <a:rPr b="1"/>
              <a:t>Let the bottleneck hurt a little</a:t>
            </a:r>
            <a:r>
              <a:rPr/>
              <a:t> in Round 2 before rescuing — the improvement round only shines if the problem was felt.</a:t>
            </a:r>
          </a:p>
          <a:p>
            <a:pPr lvl="0"/>
            <a:r>
              <a:rPr b="1"/>
              <a:t>Credit the Scouts’ fixes by name</a:t>
            </a:r>
            <a:r>
              <a:rPr/>
              <a:t> in the debrief (“Maya’s pre-staging idea doubled the wheel station”) — that’s continuous improvement culture.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2026-08-11T04:43:59Z</dcterms:created>
  <dcterms:modified xsi:type="dcterms:W3CDTF">2026-08-11T04:43:59Z</dcterms:modified>
</cp:coreProperties>
</file>

<file path=docProps/custom.xml><?xml version="1.0" encoding="utf-8"?>
<Properties xmlns="http://schemas.openxmlformats.org/officeDocument/2006/custom-properties" xmlns:vt="http://schemas.openxmlformats.org/officeDocument/2006/docPropsVTypes"/>
</file>