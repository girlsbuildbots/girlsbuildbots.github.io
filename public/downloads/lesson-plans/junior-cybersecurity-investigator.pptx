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Junior Cybersecurity Investigator</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Juniors (Grades 4–5) · </a:t>
            </a:r>
            <a:r>
              <a:rPr b="1"/>
              <a:t>Badge:</a:t>
            </a:r>
            <a:r>
              <a:rPr/>
              <a:t> Cybersecurity — Cybersecurity Investigator </a:t>
            </a:r>
            <a:r>
              <a:rPr b="1"/>
              <a:t>Series:</a:t>
            </a:r>
            <a:r>
              <a:rPr/>
              <a:t> Cybersecurity (Basics · Safeguards · Investigator) </a:t>
            </a:r>
            <a:r>
              <a:rPr b="1"/>
              <a:t>Format:</a:t>
            </a:r>
            <a:r>
              <a:rPr/>
              <a:t> One 90–120 minute session · </a:t>
            </a:r>
            <a:r>
              <a:rPr b="1"/>
              <a:t>Ratio:</a:t>
            </a:r>
            <a:r>
              <a:rPr/>
              <a:t> 1 mentor per 4–5 Scouts </a:t>
            </a:r>
            <a:r>
              <a:rPr b="1"/>
              <a:t>Who runs it:</a:t>
            </a:r>
            <a:r>
              <a:rPr/>
              <a:t> A FIRST robotics team (FLL / FTC / FRC) leading the session. A physical robot is a nice bonus but </a:t>
            </a:r>
            <a:r>
              <a:rPr b="1"/>
              <a:t>not required</a:t>
            </a:r>
            <a:r>
              <a:rPr/>
              <a:t> — every activity runs on printed clue materials the team prepares in advance.</a:t>
            </a:r>
          </a:p>
          <a:p>
            <a:pPr lvl="0" indent="0" marL="1270000">
              <a:buNone/>
            </a:pPr>
            <a:r>
              <a:rPr sz="2000" b="1"/>
              <a:t>Troop Leaders:</a:t>
            </a:r>
            <a:r>
              <a:rPr sz="2000"/>
              <a:t> This curriculum is designed to </a:t>
            </a:r>
            <a:r>
              <a:rPr sz="2000" i="1"/>
              <a:t>align with</a:t>
            </a:r>
            <a:r>
              <a:rPr sz="2000"/>
              <a:t> the Junior Cybersecurity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being safe and smart online</a:t>
            </a:r>
          </a:p>
        </p:txBody>
      </p:sp>
      <p:sp>
        <p:nvSpPr>
          <p:cNvPr id="3" name="Content Placeholder 2"/>
          <p:cNvSpPr>
            <a:spLocks noGrp="1"/>
          </p:cNvSpPr>
          <p:nvPr>
            <p:ph idx="1"/>
          </p:nvPr>
        </p:nvSpPr>
        <p:spPr/>
        <p:txBody>
          <a:bodyPr/>
          <a:lstStyle/>
          <a:p>
            <a:pPr lvl="0" indent="0" marL="0">
              <a:buNone/>
            </a:pPr>
            <a:r>
              <a:rPr/>
              <a:t>The series builds real digital literacy: understand how information travels (Basics), protect it (Safeguards), and </a:t>
            </a:r>
            <a:r>
              <a:rPr b="1"/>
              <a:t>investigate critically</a:t>
            </a:r>
            <a:r>
              <a:rPr/>
              <a:t> (Investigator). Juniors can follow evidence trails and reason from clues — real investigative thinking.</a:t>
            </a:r>
          </a:p>
          <a:p>
            <a:pPr lvl="0" indent="0" marL="0">
              <a:buNone/>
            </a:pPr>
            <a:r>
              <a:rPr b="1"/>
              <a:t>Vocabulary:</a:t>
            </a:r>
            <a:r>
              <a:rPr/>
              <a:t> evidence, clue, trail, verify, source, timeline, conclusion.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Cybersecurity Investigator (90–120 minutes)</a:t>
            </a:r>
          </a:p>
        </p:txBody>
      </p:sp>
      <p:sp>
        <p:nvSpPr>
          <p:cNvPr id="3" name="Content Placeholder 2"/>
          <p:cNvSpPr>
            <a:spLocks noGrp="1"/>
          </p:cNvSpPr>
          <p:nvPr>
            <p:ph idx="1"/>
          </p:nvPr>
        </p:nvSpPr>
        <p:spPr/>
        <p:txBody>
          <a:bodyPr/>
          <a:lstStyle/>
          <a:p>
            <a:pPr lvl="0" indent="0" marL="0">
              <a:buNone/>
            </a:pPr>
            <a:r>
              <a:rPr b="1"/>
              <a:t>Badge theme:</a:t>
            </a:r>
            <a:r>
              <a:rPr/>
              <a:t> How cyber cases get cracked — following digital trails, evaluating evidence, and reaching conclusions you can defend.</a:t>
            </a:r>
          </a:p>
          <a:p>
            <a:pPr lvl="0" indent="0" marL="0">
              <a:spcBef>
                <a:spcPts val="3000"/>
              </a:spcBef>
              <a:buNone/>
            </a:pPr>
            <a:r>
              <a:rPr b="1"/>
              <a:t>Materials</a:t>
            </a:r>
          </a:p>
          <a:p>
            <a:pPr lvl="0"/>
            <a:r>
              <a:rPr/>
              <a:t>A staged case file per team (mentor-prepared, entirely fictional): a printed suspicious message, a “sender profile” card, a hand-drawn “link preview,” and a simple event timeline</a:t>
            </a:r>
          </a:p>
          <a:p>
            <a:pPr lvl="0"/>
            <a:r>
              <a:rPr/>
              <a:t>Evidence log sheets: Clue / What it tells us / Trustworthy?</a:t>
            </a:r>
          </a:p>
          <a:p>
            <a:pPr lvl="0"/>
            <a:r>
              <a:rPr/>
              <a:t>“Verify it” station cards (check the sender, check the link spelling, check with the person it claims to be from)</a:t>
            </a:r>
          </a:p>
          <a:p>
            <a:pPr lvl="0"/>
            <a:r>
              <a:rPr/>
              <a:t>Detective props if you like — the framing works</a:t>
            </a:r>
          </a:p>
          <a:p>
            <a:pPr lvl="0" indent="0" marL="0">
              <a:spcBef>
                <a:spcPts val="3000"/>
              </a:spcBef>
              <a:buNone/>
            </a:pPr>
            <a:r>
              <a:rPr b="1"/>
              <a:t>Activity 1 — How Investigators Think (15 min)</a:t>
            </a:r>
          </a:p>
          <a:p>
            <a:pPr lvl="0" indent="0" marL="0">
              <a:buNone/>
            </a:pPr>
            <a:r>
              <a:rPr/>
              <a:t>Investigators don’t guess — they collect </a:t>
            </a:r>
            <a:r>
              <a:rPr b="1"/>
              <a:t>evidence</a:t>
            </a:r>
            <a:r>
              <a:rPr/>
              <a:t>, check whether each </a:t>
            </a:r>
            <a:r>
              <a:rPr b="1"/>
              <a:t>source</a:t>
            </a:r>
            <a:r>
              <a:rPr/>
              <a:t> is trustworthy, and build a </a:t>
            </a:r>
            <a:r>
              <a:rPr b="1"/>
              <a:t>timeline</a:t>
            </a:r>
            <a:r>
              <a:rPr/>
              <a:t> before reaching a conclusion. Quick warm-up: show one suspicious message; as a group, list every observable clue before deciding anything. Observation first, verdict last.</a:t>
            </a:r>
          </a:p>
          <a:p>
            <a:pPr lvl="0" indent="0" marL="0">
              <a:spcBef>
                <a:spcPts val="3000"/>
              </a:spcBef>
              <a:buNone/>
            </a:pPr>
            <a:r>
              <a:rPr b="1"/>
              <a:t>Activity 2 — The Case of the Prize Message (45 min)</a:t>
            </a:r>
          </a:p>
          <a:p>
            <a:pPr lvl="0" indent="0" marL="0">
              <a:buNone/>
            </a:pPr>
            <a:r>
              <a:rPr/>
              <a:t>The main event, in teams of 3–4. Each team receives the fictional case file: a classmate (invented) got a message saying she won a tablet — is it real? Teams work the evidence: 1. </a:t>
            </a:r>
            <a:r>
              <a:rPr b="1"/>
              <a:t>Log each clue</a:t>
            </a:r>
            <a:r>
              <a:rPr/>
              <a:t> on the evidence sheet (misspelled sender, urgent tone, link text doesn’t match the label, timeline shows the “company” account was created yesterday) 2. </a:t>
            </a:r>
            <a:r>
              <a:rPr b="1"/>
              <a:t>Verify</a:t>
            </a:r>
            <a:r>
              <a:rPr/>
              <a:t> using station cards — what would checking the real company’s site show? What would asking the sender directly reveal? 3. </a:t>
            </a:r>
            <a:r>
              <a:rPr b="1"/>
              <a:t>Build the timeline</a:t>
            </a:r>
            <a:r>
              <a:rPr/>
              <a:t> of what happened when 4. </a:t>
            </a:r>
            <a:r>
              <a:rPr b="1"/>
              <a:t>Reach a conclusion</a:t>
            </a:r>
            <a:r>
              <a:rPr/>
              <a:t> with the evidence that supports it</a:t>
            </a:r>
          </a:p>
          <a:p>
            <a:pPr lvl="0" indent="0" marL="0">
              <a:buNone/>
            </a:pPr>
            <a:r>
              <a:rPr/>
              <a:t>Mentors play witnesses/resources when teams “verify,” feeding answers from a prepared key.</a:t>
            </a:r>
          </a:p>
          <a:p>
            <a:pPr lvl="0" indent="0" marL="0">
              <a:spcBef>
                <a:spcPts val="3000"/>
              </a:spcBef>
              <a:buNone/>
            </a:pPr>
            <a:r>
              <a:rPr b="1"/>
              <a:t>Activity 3 — Present the Case (20 min)</a:t>
            </a:r>
          </a:p>
          <a:p>
            <a:pPr lvl="0" indent="0" marL="0">
              <a:buNone/>
            </a:pPr>
            <a:r>
              <a:rPr/>
              <a:t>Each team presents like investigators: the evidence, the verification steps, the conclusion, and their recommendation (“don’t click; report it; here’s why”). Other teams may cross-examine with one question. The bar: </a:t>
            </a:r>
            <a:r>
              <a:rPr b="1"/>
              <a:t>could you defend your conclusion with evidence alone?</a:t>
            </a:r>
          </a:p>
          <a:p>
            <a:pPr lvl="0" indent="0" marL="0">
              <a:spcBef>
                <a:spcPts val="3000"/>
              </a:spcBef>
              <a:buNone/>
            </a:pPr>
            <a:r>
              <a:rPr b="1"/>
              <a:t>Activity 4 — Investigator’s Habits (10 min) + Wrap (5 min)</a:t>
            </a:r>
          </a:p>
          <a:p>
            <a:pPr lvl="0" indent="0" marL="0">
              <a:buNone/>
            </a:pPr>
            <a:r>
              <a:rPr/>
              <a:t>Distill the method into three habits Scouts keep: look before trusting, verify with a second source, and conclusions need evidence. Closing: each Scout names the clue from today she’ll spot fastest next time.</a:t>
            </a:r>
          </a:p>
          <a:p>
            <a:pPr lvl="0" indent="0" marL="1270000">
              <a:buNone/>
            </a:pPr>
            <a:r>
              <a:rPr sz="2000" b="1"/>
              <a:t>Robot moment (optional):</a:t>
            </a:r>
            <a:r>
              <a:rPr sz="2000"/>
              <a:t> Share for 60 seconds how the team investigates a robot failure the same way — logging symptoms, checking one suspect at a time, and only “fixing” what the evidence points to.</a:t>
            </a:r>
          </a:p>
          <a:p>
            <a:pPr lvl="0" indent="0" marL="0">
              <a:spcBef>
                <a:spcPts val="3000"/>
              </a:spcBef>
              <a:buNone/>
            </a:pPr>
            <a:r>
              <a:rPr b="1"/>
              <a:t>Completion Checklist — Cybersecurity Investigator</a:t>
            </a:r>
          </a:p>
          <a:p>
            <a:pPr lvl="0" indent="0" marL="0">
              <a:buNone/>
            </a:pPr>
            <a:r>
              <a:rPr/>
              <a:t>By the end of the session, to earn the badge, each Scout can: - [ ] Explain how investigators use evidence, sources, and timelines - [ ] Log clues from a suspicious message and rate their trustworthiness - [ ] Verify a claim using a second source - [ ] Present a conclusion supported by evidence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Prepare the case file well.</a:t>
            </a:r>
            <a:r>
              <a:rPr/>
              <a:t> The session lives or dies on the props — 30 minutes of prep, entirely fictional, no real brands or people.</a:t>
            </a:r>
          </a:p>
          <a:p>
            <a:pPr lvl="0"/>
            <a:r>
              <a:rPr b="1"/>
              <a:t>You don’t need a robot for this.</a:t>
            </a:r>
            <a:r>
              <a:rPr/>
              <a:t> The “robot moment” is a 60-second add-on.</a:t>
            </a:r>
          </a:p>
          <a:p>
            <a:pPr lvl="0"/>
            <a:r>
              <a:rPr b="1"/>
              <a:t>Don’t confirm early guesses.</a:t>
            </a:r>
            <a:r>
              <a:rPr/>
              <a:t> When a team jumps to a verdict, redirect: “what evidence supports that?”</a:t>
            </a:r>
          </a:p>
          <a:p>
            <a:pPr lvl="0"/>
            <a:r>
              <a:rPr b="1"/>
              <a:t>Play the verification stations straight.</a:t>
            </a:r>
            <a:r>
              <a:rPr/>
              <a:t> Give factual answers from your key; let the teams do the reasoning.</a:t>
            </a:r>
          </a:p>
          <a:p>
            <a:pPr lvl="0"/>
            <a:r>
              <a:rPr b="1"/>
              <a:t>Cross-examination stays friendly.</a:t>
            </a:r>
            <a:r>
              <a:rPr/>
              <a:t> One respectful question per team keeps it rigorous without turning adversarial.</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Junior Cybersecurity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2026-08-11T04:44:01Z</dcterms:created>
  <dcterms:modified xsi:type="dcterms:W3CDTF">2026-08-11T04:44:01Z</dcterms:modified>
</cp:coreProperties>
</file>

<file path=docProps/custom.xml><?xml version="1.0" encoding="utf-8"?>
<Properties xmlns="http://schemas.openxmlformats.org/officeDocument/2006/custom-properties" xmlns:vt="http://schemas.openxmlformats.org/officeDocument/2006/docPropsVTypes"/>
</file>