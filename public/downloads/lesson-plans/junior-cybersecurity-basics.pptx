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Junior Cybersecurity Basics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Juniors (Grades 4–5) · </a:t>
            </a:r>
            <a:r>
              <a:rPr b="1"/>
              <a:t>Badge:</a:t>
            </a:r>
            <a:r>
              <a:rPr/>
              <a:t> Cybersecurity — Cybersecurity Basics </a:t>
            </a:r>
            <a:r>
              <a:rPr b="1"/>
              <a:t>Series:</a:t>
            </a:r>
            <a:r>
              <a:rPr/>
              <a:t> Cybersecurity (Basics · Safeguards · Investigator) </a:t>
            </a:r>
            <a:r>
              <a:rPr b="1"/>
              <a:t>Format:</a:t>
            </a:r>
            <a:r>
              <a:rPr/>
              <a:t> One 90–120 minute session · </a:t>
            </a:r>
            <a:r>
              <a:rPr b="1"/>
              <a:t>Ratio:</a:t>
            </a:r>
            <a:r>
              <a:rPr/>
              <a:t> 1 mentor per 4–5 Scouts </a:t>
            </a:r>
            <a:r>
              <a:rPr b="1"/>
              <a:t>Who runs it:</a:t>
            </a:r>
            <a:r>
              <a:rPr/>
              <a:t> A FIRST robotics team (FLL / FTC / FRC) leading the session. A physical robot is a nice bonus but </a:t>
            </a:r>
            <a:r>
              <a:rPr b="1"/>
              <a:t>not required</a:t>
            </a:r>
            <a:r>
              <a:rPr/>
              <a:t> — every activity runs on free browser tools and simple props.</a:t>
            </a:r>
          </a:p>
          <a:p>
            <a:pPr lvl="0" indent="0" marL="1270000">
              <a:buNone/>
            </a:pPr>
            <a:r>
              <a:rPr sz="2000" b="1"/>
              <a:t>Troop Leaders:</a:t>
            </a:r>
            <a:r>
              <a:rPr sz="2000"/>
              <a:t> This curriculum is designed to </a:t>
            </a:r>
            <a:r>
              <a:rPr sz="2000" i="1"/>
              <a:t>align with</a:t>
            </a:r>
            <a:r>
              <a:rPr sz="2000"/>
              <a:t> the Junior Cybersecurity badge series.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through-line: being safe and smart online</a:t>
            </a:r>
          </a:p>
        </p:txBody>
      </p:sp>
      <p:sp>
        <p:nvSpPr>
          <p:cNvPr id="3" name="Content Placeholder 2"/>
          <p:cNvSpPr>
            <a:spLocks noGrp="1"/>
          </p:cNvSpPr>
          <p:nvPr>
            <p:ph idx="1"/>
          </p:nvPr>
        </p:nvSpPr>
        <p:spPr/>
        <p:txBody>
          <a:bodyPr/>
          <a:lstStyle/>
          <a:p>
            <a:pPr lvl="0" indent="0" marL="0">
              <a:buNone/>
            </a:pPr>
            <a:r>
              <a:rPr/>
              <a:t>The series builds real digital literacy: understand how information travels (</a:t>
            </a:r>
            <a:r>
              <a:rPr b="1"/>
              <a:t>Basics</a:t>
            </a:r>
            <a:r>
              <a:rPr/>
              <a:t>), protect it (Safeguards), and investigate critically (Investigator). Juniors can handle the how-it-works layer — networks, messages hopping between computers, and why data is valuable.</a:t>
            </a:r>
          </a:p>
          <a:p>
            <a:pPr lvl="0" indent="0" marL="0">
              <a:buNone/>
            </a:pPr>
            <a:r>
              <a:rPr b="1"/>
              <a:t>Vocabulary:</a:t>
            </a:r>
            <a:r>
              <a:rPr/>
              <a:t> network, data, message, router, personal information, digital footprint, encrypt (secret code).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Cybersecurity Basics (90–120 minutes)</a:t>
            </a:r>
          </a:p>
        </p:txBody>
      </p:sp>
      <p:sp>
        <p:nvSpPr>
          <p:cNvPr id="3" name="Content Placeholder 2"/>
          <p:cNvSpPr>
            <a:spLocks noGrp="1"/>
          </p:cNvSpPr>
          <p:nvPr>
            <p:ph idx="1"/>
          </p:nvPr>
        </p:nvSpPr>
        <p:spPr/>
        <p:txBody>
          <a:bodyPr/>
          <a:lstStyle/>
          <a:p>
            <a:pPr lvl="0" indent="0" marL="0">
              <a:buNone/>
            </a:pPr>
            <a:r>
              <a:rPr b="1"/>
              <a:t>Badge theme:</a:t>
            </a:r>
            <a:r>
              <a:rPr/>
              <a:t> How information travels across networks, what makes data valuable — and vulnerable.</a:t>
            </a:r>
          </a:p>
          <a:p>
            <a:pPr lvl="0" indent="0" marL="0">
              <a:spcBef>
                <a:spcPts val="3000"/>
              </a:spcBef>
              <a:buNone/>
            </a:pPr>
            <a:r>
              <a:rPr b="1"/>
              <a:t>Materials</a:t>
            </a:r>
          </a:p>
          <a:p>
            <a:pPr lvl="0"/>
            <a:r>
              <a:rPr/>
              <a:t>Index cards + envelopes for the human-network game; one “router” sign per group</a:t>
            </a:r>
          </a:p>
          <a:p>
            <a:pPr lvl="0"/>
            <a:r>
              <a:rPr/>
              <a:t>A simple substitution cipher sheet (A=1, B=2… or a Caesar wheel printout)</a:t>
            </a:r>
          </a:p>
          <a:p>
            <a:pPr lvl="0"/>
            <a:r>
              <a:rPr/>
              <a:t>Devices with </a:t>
            </a:r>
            <a:r>
              <a:rPr b="1"/>
              <a:t>Interland</a:t>
            </a:r>
            <a:r>
              <a:rPr/>
              <a:t> (beinternetawesome.withgoogle.com) or CYBER.ORG activities</a:t>
            </a:r>
          </a:p>
          <a:p>
            <a:pPr lvl="0"/>
            <a:r>
              <a:rPr/>
              <a:t>“Data value” cards (your name, your school, your password, your favorite song, your address)</a:t>
            </a:r>
          </a:p>
          <a:p>
            <a:pPr lvl="0" indent="0" marL="0">
              <a:spcBef>
                <a:spcPts val="3000"/>
              </a:spcBef>
              <a:buNone/>
            </a:pPr>
            <a:r>
              <a:rPr b="1"/>
              <a:t>Activity 1 — The Human Internet (25 min)</a:t>
            </a:r>
          </a:p>
          <a:p>
            <a:pPr lvl="0" indent="0" marL="0">
              <a:buNone/>
            </a:pPr>
            <a:r>
              <a:rPr/>
              <a:t>Build a network out of Scouts. Senders write a short message on a card, seal it in an envelope addressed to a receiver across the room — but it must travel </a:t>
            </a:r>
            <a:r>
              <a:rPr b="1"/>
              <a:t>hand to hand through “routers”</a:t>
            </a:r>
            <a:r>
              <a:rPr/>
              <a:t> (Scouts in the middle) to get there. Round 2: a playful “snoop” router peeks at unsealed cards. </a:t>
            </a:r>
            <a:r>
              <a:rPr b="1"/>
              <a:t>Debrief:</a:t>
            </a:r>
            <a:r>
              <a:rPr/>
              <a:t> on the internet, messages hop through many computers; anyone in the path could look — which is why some messages need protecting.</a:t>
            </a:r>
          </a:p>
          <a:p>
            <a:pPr lvl="0" indent="0" marL="0">
              <a:spcBef>
                <a:spcPts val="3000"/>
              </a:spcBef>
              <a:buNone/>
            </a:pPr>
            <a:r>
              <a:rPr b="1"/>
              <a:t>Activity 2 — Secret Codes (Encryption) (20 min)</a:t>
            </a:r>
          </a:p>
          <a:p>
            <a:pPr lvl="0" indent="0" marL="0">
              <a:buNone/>
            </a:pPr>
            <a:r>
              <a:rPr/>
              <a:t>Solution to the snoop: write the message in a </a:t>
            </a:r>
            <a:r>
              <a:rPr b="1"/>
              <a:t>cipher</a:t>
            </a:r>
            <a:r>
              <a:rPr/>
              <a:t> before sending. Pairs encode and decode short messages with the substitution sheet. The snoop gets a coded card and can’t read it. That’s the core idea of </a:t>
            </a:r>
            <a:r>
              <a:rPr b="1"/>
              <a:t>encryption</a:t>
            </a:r>
            <a:r>
              <a:rPr/>
              <a:t> — the internet’s envelope.</a:t>
            </a:r>
          </a:p>
          <a:p>
            <a:pPr lvl="0" indent="0" marL="0">
              <a:spcBef>
                <a:spcPts val="3000"/>
              </a:spcBef>
              <a:buNone/>
            </a:pPr>
            <a:r>
              <a:rPr b="1"/>
              <a:t>Activity 3 — What’s Your Data Worth? (20 min)</a:t>
            </a:r>
          </a:p>
          <a:p>
            <a:pPr lvl="0" indent="0" marL="0">
              <a:buNone/>
            </a:pPr>
            <a:r>
              <a:rPr/>
              <a:t>Sort the data-value cards: which would a stranger most want, and why? (Password &gt; address &gt; school &gt; favorite song.) Introduce </a:t>
            </a:r>
            <a:r>
              <a:rPr b="1"/>
              <a:t>digital footprint</a:t>
            </a:r>
            <a:r>
              <a:rPr/>
              <a:t>: the trail of information you leave online adds up. Juniors are ready for the honest version: data is valuable, so people try to collect it — which is why we choose what to share.</a:t>
            </a:r>
          </a:p>
          <a:p>
            <a:pPr lvl="0" indent="0" marL="0">
              <a:spcBef>
                <a:spcPts val="3000"/>
              </a:spcBef>
              <a:buNone/>
            </a:pPr>
            <a:r>
              <a:rPr b="1"/>
              <a:t>Activity 4 — Interland Round (20 min) + Wrap (10 min)</a:t>
            </a:r>
          </a:p>
          <a:p>
            <a:pPr lvl="0" indent="0" marL="0">
              <a:buNone/>
            </a:pPr>
            <a:r>
              <a:rPr/>
              <a:t>Play a realm reinforcing share-with-care. Closing circle: each Scout names one thing she learned about how information travels, and one piece of data she’ll guard.</a:t>
            </a:r>
          </a:p>
          <a:p>
            <a:pPr lvl="0" indent="0" marL="1270000">
              <a:buNone/>
            </a:pPr>
            <a:r>
              <a:rPr sz="2000" b="1"/>
              <a:t>Robot moment (optional):</a:t>
            </a:r>
            <a:r>
              <a:rPr sz="2000"/>
              <a:t> Share for 60 seconds how the team’s robot and driver station talk over a network during matches — and why the field’s network is locked down so no one else can send the robot commands.</a:t>
            </a:r>
          </a:p>
          <a:p>
            <a:pPr lvl="0" indent="0" marL="0">
              <a:spcBef>
                <a:spcPts val="3000"/>
              </a:spcBef>
              <a:buNone/>
            </a:pPr>
            <a:r>
              <a:rPr b="1"/>
              <a:t>Completion Checklist — Cybersecurity Basics</a:t>
            </a:r>
          </a:p>
          <a:p>
            <a:pPr lvl="0" indent="0" marL="0">
              <a:buNone/>
            </a:pPr>
            <a:r>
              <a:rPr/>
              <a:t>By the end of the session, to earn the badge, each Scout can: - [ ] Explain how a message travels through a network of computers - [ ] Explain why some information needs protecting on its way - [ ] Encode and decode a message with a simple cipher - [ ] Rank types of personal data by value and explain her reasoning</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don’t need a robot for this.</a:t>
            </a:r>
            <a:r>
              <a:rPr/>
              <a:t> Envelopes, ciphers, and a browser game carry the session. The “robot moment” is a 60-second add-on.</a:t>
            </a:r>
          </a:p>
          <a:p>
            <a:pPr lvl="0"/>
            <a:r>
              <a:rPr b="1"/>
              <a:t>Make the snoop playful, not creepy.</a:t>
            </a:r>
            <a:r>
              <a:rPr/>
              <a:t> A cartoonish nosy router lands the lesson without fear.</a:t>
            </a:r>
          </a:p>
          <a:p>
            <a:pPr lvl="0"/>
            <a:r>
              <a:rPr b="1"/>
              <a:t>Let the cipher click.</a:t>
            </a:r>
            <a:r>
              <a:rPr/>
              <a:t> The moment the snoop can’t read the coded card is the whole point — stage it deliberately.</a:t>
            </a:r>
          </a:p>
          <a:p>
            <a:pPr lvl="0"/>
            <a:r>
              <a:rPr b="1"/>
              <a:t>Honest but calm on data value.</a:t>
            </a:r>
            <a:r>
              <a:rPr/>
              <a:t> Juniors can handle “your data is valuable”; keep the tone matter-of-fact, never alarming.</a:t>
            </a:r>
          </a:p>
          <a:p>
            <a:pPr lvl="0"/>
            <a:r>
              <a:rPr b="1"/>
              <a:t>Connect every game moment back</a:t>
            </a:r>
            <a:r>
              <a:rPr/>
              <a:t> to the human-network activity — the physical memory anchors the concept.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Junior Cybersecurity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2026-08-11T04:44:00Z</dcterms:created>
  <dcterms:modified xsi:type="dcterms:W3CDTF">2026-08-11T04:44:00Z</dcterms:modified>
</cp:coreProperties>
</file>

<file path=docProps/custom.xml><?xml version="1.0" encoding="utf-8"?>
<Properties xmlns="http://schemas.openxmlformats.org/officeDocument/2006/custom-properties" xmlns:vt="http://schemas.openxmlformats.org/officeDocument/2006/docPropsVTypes"/>
</file>